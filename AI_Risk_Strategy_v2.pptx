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8876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Oman LNG Scope of Work v2 (SOW), sections 3, 10-13, 16-20, 24, 27-30. Commercial assumptions inherited from prior internal scenario discussion: $800k customer price; 20% gross margin; $640k maximum delivery budget. Scope and acceptance shift is a proposed variation, not confirmed by Oman LNG.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SOW sections 16-18, 24-25, 27-30. Option A and B are alternative contracting models requiring approval, rather than representations that the original SOW can be met at either price. Option C must be independently priced after pilot; no definitive full-SOW price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SOW sections 2 (indicative scope), 6-13 (work packages), 16-19 (pilot, QA, delivery). The 150k / 250-300k / 50k counts refer to different entities and cannot be added to estimate review effort. The exact page count, proportion of supported native drawings and candidate-relationship volume are unknown.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SOW sections 6-13, 17-20, 21-22. No new asset hierarchy or knowledge graph (sections 2 and 4). Preserve originals and generate separate searchable derivatives (section 8). AI must be deployed only in an Oman LNG-approved environment; use no public/consumer model ingestion. A high-reasoning LLM is for ambiguous candidates, not full-population brute-force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SOW sections 10-13 (engineering context and evidence), 16-18 (pilot, gold set, precision/recall, expert review), 19-20 (AIM schema, trial load), 28 (acceptance). "100%" refers to an attempt to apply defined automated checks to all eligible delivered records, not a guarantee of perfect extraction or successful processing. Manual review hours are an estimate priced at $50/hour.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Planning assumptions only. "Strong candidates" 85-95%, 60-80%, 25-50% are not validated acceptance or precision rates. 4,800 paid reviewer hours times 75% casework productivity = 3,600 productive hours. Potential reviews: decent 3,600*60/(8 to 5) = 27,000-43,200; hybrid (12 to 8 minutes) = 18,000-27,000; really bad (25 to 15 minutes) = 8,640-14,400. Figures are capacity ceilings if all productive hours were used for same-type review, not commitments; a comprehensive QA plan also needs stratified gold sampling and document-level recall measurement. An unresolved case may be recorded with approved disposition.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Budget assumption from preceding discussion: reviewers $240,000 = 4,800h x $50; lead $42,000 = 600h x $70; automation QA $25,000; independent quality and trial load $13,000; sum $320,000. Rates are illustrative charge-out rates, not L&amp;T bids. 75% casework productivity is a newly conservative planning assumption, not historical performance. The base factory still includes its own defect-correction reserve; no separate contingency exists inside the incremental $320k, requiring change-control protections.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Factory cost base inherited from the $400k alternative: India-led labour $230.4k, OCR/model/compute $45k, security and integration $12k, factory contingency $32.6k = $320k. QA components $240k + $42k + $25k + $13k = $320k. Total cost ceiling $640k; customer selling price $800k; gross profit $160k or 20% margin on sale. Cost allowances are assumptions and not provider bids. No source-data remediation included. Only $32.6k contingency exists in combined baseline (5.1% of cost), so risk-sharing and stop/go are essential.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SOW sections 2, 4 (no new asset hierarchy / knowledge graph), 21 (disclose software, models and locations), 22 (no public/consumer AI; approval of processing environments, subcontractors and data handling), 23 (IP). Shell AHA/IDB internal documentation discussed previously is historical; do not assume technical readiness. RDL/DataGate are proposed reuse candidates, not approved Oman LNG components. No model performance commitments without a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SOW section 4.2 excludes modifications to original source documents, CMMS and PI tags, creating tags, redlining, changes to hierarchy. SOW section 15 requires approved exception dispositions; section 16 mandatory pilot; section 18 competent human validation; section 20 contractor correction of trial-load issues; section 28 rejects untraceable/incomplete outputs and requires correction/resubmission at no extra cost of contractor-caused noncompliance; sections 29-30 payment and change control. The tender does NOT appear to exempt the contractor from correcting its own output defects.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SOW sections 5 (gold standard and reference inputs), 16 (mandatory proof-of-concept and full-scale go/no-go), 17 (separate precision / recall / metadata measures), 19-20 (AIM target and trial-load support), 28-30 (batch acceptance and change control). Proposed stage timing and QA cap are internal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Risk assessment is internal judgment; it is not sourced performance statistics. Relevant tender clauses: section 16 pilot approval; sections 10,13 context-sensitive tag and PI matching; sections 2,6 source volumes; sections 27-30 acceptance and change control. Risk mitigations describe prevention; response describes remedial action after occurrence, excluding unapproved source-system alterations. More risks and owners in accompanying Word decision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SOW sections 17 (separate detection precision and recall), 18 (competent human validation), 19-20 (AIM and trial-load correction), 22 (AI restrictions and approved environments), 24-25 (party roles), 28-30 (formal acceptance and change control). Ratings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recommendation based on SOW sections 16-18, 22, 24-25, 28-30 and commercial model. No customer approval is known. Corresponding Word document includes decision register, contractual clauses, risk owners and recommended pilot acceptance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283464"/>
            <a:ext cx="10561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65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COMMERCIAL POSITION | DECISION REQUIRED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12648" y="676656"/>
            <a:ext cx="10972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2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differentiated $800k offer: automation first, QA by design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612648" y="1481328"/>
            <a:ext cx="10972800" cy="0"/>
          </a:xfrm>
          <a:prstGeom prst="line">
            <a:avLst/>
          </a:prstGeom>
          <a:noFill/>
          <a:ln w="12700">
            <a:solidFill>
              <a:srgbClr val="DD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BID STRATEGY  |  COMMERCIAL ASSUMPTIONS TO BE CONFIRMED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091672" y="6483096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3401568" cy="1335024"/>
          </a:xfrm>
          <a:prstGeom prst="roundRect">
            <a:avLst>
              <a:gd name="adj" fmla="val 4795"/>
            </a:avLst>
          </a:prstGeom>
          <a:solidFill>
            <a:srgbClr val="E9F5F1"/>
          </a:solidFill>
          <a:ln w="12700">
            <a:solidFill>
              <a:srgbClr val="E9F5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50292" cy="1335024"/>
          </a:xfrm>
          <a:prstGeom prst="rect">
            <a:avLst/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1956816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kern="0" spc="100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SELLING PRICE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822960" y="2221992"/>
            <a:ext cx="30998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22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$800k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22960" y="279806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target bid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4187952" y="1783080"/>
            <a:ext cx="3401568" cy="1335024"/>
          </a:xfrm>
          <a:prstGeom prst="roundRect">
            <a:avLst>
              <a:gd name="adj" fmla="val 4795"/>
            </a:avLst>
          </a:prstGeom>
          <a:solidFill>
            <a:srgbClr val="EBF3F9"/>
          </a:solidFill>
          <a:ln w="12700">
            <a:solidFill>
              <a:srgbClr val="EBF3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87952" y="1783080"/>
            <a:ext cx="50292" cy="1335024"/>
          </a:xfrm>
          <a:prstGeom prst="rect">
            <a:avLst/>
          </a:prstGeom>
          <a:solidFill>
            <a:srgbClr val="3A7199"/>
          </a:solidFill>
          <a:ln w="12700">
            <a:solidFill>
              <a:srgbClr val="3A71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9976" y="1956816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kern="0" spc="100" dirty="0">
                <a:solidFill>
                  <a:srgbClr val="3A71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MAX. DELIVERY BUDGET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4370832" y="2221992"/>
            <a:ext cx="30998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22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$640k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370832" y="279806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Includes factory and QA/QC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7735824" y="1783080"/>
            <a:ext cx="3776472" cy="1335024"/>
          </a:xfrm>
          <a:prstGeom prst="roundRect">
            <a:avLst>
              <a:gd name="adj" fmla="val 4795"/>
            </a:avLst>
          </a:prstGeom>
          <a:solidFill>
            <a:srgbClr val="FBF2E5"/>
          </a:solidFill>
          <a:ln w="12700">
            <a:solidFill>
              <a:srgbClr val="FBF2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35824" y="1783080"/>
            <a:ext cx="50292" cy="1335024"/>
          </a:xfrm>
          <a:prstGeom prst="rect">
            <a:avLst/>
          </a:prstGeom>
          <a:solidFill>
            <a:srgbClr val="A87228"/>
          </a:solidFill>
          <a:ln w="12700">
            <a:solidFill>
              <a:srgbClr val="A872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27848" y="1956816"/>
            <a:ext cx="3438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kern="0" spc="100" dirty="0">
                <a:solidFill>
                  <a:srgbClr val="A872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GROSS PROFIT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7918704" y="2221992"/>
            <a:ext cx="3474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22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$160k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7918704" y="2798064"/>
            <a:ext cx="3465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 gross margin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40080" y="3401568"/>
            <a:ext cx="6702552" cy="1929384"/>
          </a:xfrm>
          <a:prstGeom prst="roundRect">
            <a:avLst>
              <a:gd name="adj" fmla="val 3318"/>
            </a:avLst>
          </a:prstGeom>
          <a:solidFill>
            <a:srgbClr val="F5F8F9"/>
          </a:solidFill>
          <a:ln w="12700">
            <a:solidFill>
              <a:srgbClr val="F5F8F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401568"/>
            <a:ext cx="50292" cy="1929384"/>
          </a:xfrm>
          <a:prstGeom prst="rect">
            <a:avLst/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3648456"/>
            <a:ext cx="6217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70" b="1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SELL A CONTROLLED INFORMATION OUTPUT</a:t>
            </a:r>
            <a:endParaRPr lang="en-US" sz="1770" dirty="0"/>
          </a:p>
        </p:txBody>
      </p:sp>
      <p:sp>
        <p:nvSpPr>
          <p:cNvPr id="26" name="Shape 24"/>
          <p:cNvSpPr/>
          <p:nvPr/>
        </p:nvSpPr>
        <p:spPr>
          <a:xfrm>
            <a:off x="896112" y="4210812"/>
            <a:ext cx="64922" cy="64922"/>
          </a:xfrm>
          <a:prstGeom prst="roundRect">
            <a:avLst>
              <a:gd name="adj" fmla="val 98592"/>
            </a:avLst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88136" y="4087368"/>
            <a:ext cx="592531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the complete agreed document and tag population using AI + deterministic rules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96112" y="4604004"/>
            <a:ext cx="64922" cy="64922"/>
          </a:xfrm>
          <a:prstGeom prst="roundRect">
            <a:avLst>
              <a:gd name="adj" fmla="val 98592"/>
            </a:avLst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88136" y="4480560"/>
            <a:ext cx="592531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automated QA/QC across every applicable record and batch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96112" y="4997196"/>
            <a:ext cx="64922" cy="64922"/>
          </a:xfrm>
          <a:prstGeom prst="roundRect">
            <a:avLst>
              <a:gd name="adj" fmla="val 98592"/>
            </a:avLst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88136" y="4873752"/>
            <a:ext cx="592531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targeted, risk-based engineering and document-control reviews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580376" y="3401568"/>
            <a:ext cx="3931920" cy="1929384"/>
          </a:xfrm>
          <a:prstGeom prst="roundRect">
            <a:avLst>
              <a:gd name="adj" fmla="val 3318"/>
            </a:avLst>
          </a:prstGeom>
          <a:solidFill>
            <a:srgbClr val="F9EBE9"/>
          </a:solidFill>
          <a:ln w="12700">
            <a:solidFill>
              <a:srgbClr val="F9EBE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80376" y="3401568"/>
            <a:ext cx="50292" cy="1929384"/>
          </a:xfrm>
          <a:prstGeom prst="rect">
            <a:avLst/>
          </a:prstGeom>
          <a:solidFill>
            <a:srgbClr val="A84A48"/>
          </a:solidFill>
          <a:ln w="12700">
            <a:solidFill>
              <a:srgbClr val="A84A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08976" y="3648456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60" b="1" dirty="0">
                <a:solidFill>
                  <a:srgbClr val="A84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GATING CONTRACTUAL ISSUE</a:t>
            </a:r>
            <a:endParaRPr lang="en-US" sz="1660" dirty="0"/>
          </a:p>
        </p:txBody>
      </p:sp>
      <p:sp>
        <p:nvSpPr>
          <p:cNvPr id="35" name="Text 33"/>
          <p:cNvSpPr/>
          <p:nvPr/>
        </p:nvSpPr>
        <p:spPr>
          <a:xfrm>
            <a:off x="7808976" y="4050792"/>
            <a:ext cx="34290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original tender asks the contractor to validate relationships. Customer-owned final verification and a capped review scope require explicit agreement.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58368" y="5669280"/>
            <a:ext cx="10844784" cy="429768"/>
          </a:xfrm>
          <a:prstGeom prst="roundRect">
            <a:avLst>
              <a:gd name="adj" fmla="val 14894"/>
            </a:avLst>
          </a:prstGeom>
          <a:solidFill>
            <a:srgbClr val="122B40"/>
          </a:solidFill>
          <a:ln w="12700">
            <a:solidFill>
              <a:srgbClr val="122B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5742432"/>
            <a:ext cx="10378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offer is outcome-led, but the outcome must be precisely defined and contractually accepted.</a:t>
            </a:r>
            <a:endParaRPr lang="en-US" sz="14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283464"/>
            <a:ext cx="10561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65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OMAN LNG | AI-FIRST INFORMATION FACTORY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12648" y="676656"/>
            <a:ext cx="10972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2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commercial choices — only one sits at $800k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612648" y="1481328"/>
            <a:ext cx="10972800" cy="0"/>
          </a:xfrm>
          <a:prstGeom prst="line">
            <a:avLst/>
          </a:prstGeom>
          <a:noFill/>
          <a:ln w="12700">
            <a:solidFill>
              <a:srgbClr val="DD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BID STRATEGY  |  COMMERCIAL ASSUMPTIONS TO BE CONFIRMED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091672" y="6483096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8368" y="1847088"/>
            <a:ext cx="10753344" cy="484632"/>
          </a:xfrm>
          <a:prstGeom prst="rect">
            <a:avLst/>
          </a:prstGeom>
          <a:solidFill>
            <a:srgbClr val="122B40"/>
          </a:solidFill>
          <a:ln w="12700">
            <a:solidFill>
              <a:srgbClr val="122B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75104"/>
            <a:ext cx="2962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3950208" y="1975104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/ APPROACH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7132320" y="1975104"/>
            <a:ext cx="4187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CONSEQUENCE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58368" y="2441448"/>
            <a:ext cx="10753344" cy="859536"/>
          </a:xfrm>
          <a:prstGeom prst="roundRect">
            <a:avLst>
              <a:gd name="adj" fmla="val 7447"/>
            </a:avLst>
          </a:prstGeom>
          <a:solidFill>
            <a:srgbClr val="F5F8F9"/>
          </a:solidFill>
          <a:ln w="12700">
            <a:solidFill>
              <a:srgbClr val="F5F8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523744"/>
            <a:ext cx="29626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22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 /  Factory-only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950208" y="2523744"/>
            <a:ext cx="2971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$400k fixed target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132320" y="2523744"/>
            <a:ext cx="4187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links and evidence; customer performs engineering verification and most QA.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8368" y="3328416"/>
            <a:ext cx="10753344" cy="0"/>
          </a:xfrm>
          <a:prstGeom prst="line">
            <a:avLst/>
          </a:prstGeom>
          <a:noFill/>
          <a:ln w="12700">
            <a:solidFill>
              <a:srgbClr val="DDE6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383280"/>
            <a:ext cx="10753344" cy="859536"/>
          </a:xfrm>
          <a:prstGeom prst="roundRect">
            <a:avLst>
              <a:gd name="adj" fmla="val 7447"/>
            </a:avLst>
          </a:prstGeom>
          <a:solidFill>
            <a:srgbClr val="E9F5F1"/>
          </a:solidFill>
          <a:ln w="12700">
            <a:solidFill>
              <a:srgbClr val="E9F5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465576"/>
            <a:ext cx="29626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 /  Factory + QA/QC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950208" y="3465576"/>
            <a:ext cx="2971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$800k fixed target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132320" y="3465576"/>
            <a:ext cx="4187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automated QA; capped 4,800 paid reviewer hours and targeted independent assurance.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58368" y="4270248"/>
            <a:ext cx="10753344" cy="0"/>
          </a:xfrm>
          <a:prstGeom prst="line">
            <a:avLst/>
          </a:prstGeom>
          <a:noFill/>
          <a:ln w="12700">
            <a:solidFill>
              <a:srgbClr val="DDE6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4325112"/>
            <a:ext cx="10753344" cy="859536"/>
          </a:xfrm>
          <a:prstGeom prst="roundRect">
            <a:avLst>
              <a:gd name="adj" fmla="val 7447"/>
            </a:avLst>
          </a:prstGeom>
          <a:solidFill>
            <a:srgbClr val="F5F8F9"/>
          </a:solidFill>
          <a:ln w="12700">
            <a:solidFill>
              <a:srgbClr val="F5F8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407408"/>
            <a:ext cx="29626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22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 /  Full SOW outcome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950208" y="4407408"/>
            <a:ext cx="2971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Reprice after pilot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132320" y="4407408"/>
            <a:ext cx="4187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Contractor owns agreed engineering validation and full acceptance obligations; likely materially higher.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58368" y="5212080"/>
            <a:ext cx="10753344" cy="0"/>
          </a:xfrm>
          <a:prstGeom prst="line">
            <a:avLst/>
          </a:prstGeom>
          <a:noFill/>
          <a:ln w="12700">
            <a:solidFill>
              <a:srgbClr val="DDE6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5449824"/>
            <a:ext cx="10753344" cy="612648"/>
          </a:xfrm>
          <a:prstGeom prst="roundRect">
            <a:avLst>
              <a:gd name="adj" fmla="val 10448"/>
            </a:avLst>
          </a:prstGeom>
          <a:solidFill>
            <a:srgbClr val="E9F5F1"/>
          </a:solidFill>
          <a:ln w="12700">
            <a:solidFill>
              <a:srgbClr val="E9F5F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" y="5449824"/>
            <a:ext cx="50292" cy="612648"/>
          </a:xfrm>
          <a:prstGeom prst="rect">
            <a:avLst/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" y="5577840"/>
            <a:ext cx="10332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10" b="1" dirty="0">
                <a:solidFill>
                  <a:srgbClr val="122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  Offer option B, conditional on documented customer decision rights and a hard QA review cap.</a:t>
            </a:r>
            <a:endParaRPr lang="en-US" sz="16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283464"/>
            <a:ext cx="10561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65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OMAN LNG | AI-FIRST INFORMATION FACTORY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12648" y="676656"/>
            <a:ext cx="10972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2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industrial processing task — not 150,000 individual jobs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612648" y="1481328"/>
            <a:ext cx="10972800" cy="0"/>
          </a:xfrm>
          <a:prstGeom prst="line">
            <a:avLst/>
          </a:prstGeom>
          <a:noFill/>
          <a:ln w="12700">
            <a:solidFill>
              <a:srgbClr val="DD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BID STRATEGY  |  COMMERCIAL ASSUMPTIONS TO BE CONFIRMED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091672" y="6483096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9224" y="1819656"/>
            <a:ext cx="3410712" cy="1335024"/>
          </a:xfrm>
          <a:prstGeom prst="roundRect">
            <a:avLst>
              <a:gd name="adj" fmla="val 4795"/>
            </a:avLst>
          </a:prstGeom>
          <a:solidFill>
            <a:srgbClr val="E9F5F1"/>
          </a:solidFill>
          <a:ln w="12700">
            <a:solidFill>
              <a:srgbClr val="E9F5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1819656"/>
            <a:ext cx="50292" cy="1335024"/>
          </a:xfrm>
          <a:prstGeom prst="rect">
            <a:avLst/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993392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kern="0" spc="100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ESTATE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832104" y="225856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22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≤150k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32104" y="2834640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Mixed native, PDF, scans, CAD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4206240" y="1819656"/>
            <a:ext cx="3383280" cy="1335024"/>
          </a:xfrm>
          <a:prstGeom prst="roundRect">
            <a:avLst>
              <a:gd name="adj" fmla="val 4795"/>
            </a:avLst>
          </a:prstGeom>
          <a:solidFill>
            <a:srgbClr val="EBF3F9"/>
          </a:solidFill>
          <a:ln w="12700">
            <a:solidFill>
              <a:srgbClr val="EBF3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1819656"/>
            <a:ext cx="50292" cy="1335024"/>
          </a:xfrm>
          <a:prstGeom prst="rect">
            <a:avLst/>
          </a:prstGeom>
          <a:solidFill>
            <a:srgbClr val="3A7199"/>
          </a:solidFill>
          <a:ln w="12700">
            <a:solidFill>
              <a:srgbClr val="3A71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98264" y="1993392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kern="0" spc="100" dirty="0">
                <a:solidFill>
                  <a:srgbClr val="3A71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CMMS ASSET TAGS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4389120" y="2258568"/>
            <a:ext cx="30815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22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250–300k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389120" y="2834640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asset-register extract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7735824" y="1819656"/>
            <a:ext cx="3776472" cy="1335024"/>
          </a:xfrm>
          <a:prstGeom prst="roundRect">
            <a:avLst>
              <a:gd name="adj" fmla="val 4795"/>
            </a:avLst>
          </a:prstGeom>
          <a:solidFill>
            <a:srgbClr val="FBF2E5"/>
          </a:solidFill>
          <a:ln w="12700">
            <a:solidFill>
              <a:srgbClr val="FBF2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35824" y="1819656"/>
            <a:ext cx="50292" cy="1335024"/>
          </a:xfrm>
          <a:prstGeom prst="rect">
            <a:avLst/>
          </a:prstGeom>
          <a:solidFill>
            <a:srgbClr val="A87228"/>
          </a:solidFill>
          <a:ln w="12700">
            <a:solidFill>
              <a:srgbClr val="A872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27848" y="1993392"/>
            <a:ext cx="3438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kern="0" spc="100" dirty="0">
                <a:solidFill>
                  <a:srgbClr val="A872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 HISTORIAN TAGS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7918704" y="2258568"/>
            <a:ext cx="3474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22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~50k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7918704" y="2834640"/>
            <a:ext cx="3465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Plus prior fuzzy-match candidates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67512" y="3538728"/>
            <a:ext cx="5212080" cy="1874520"/>
          </a:xfrm>
          <a:prstGeom prst="roundRect">
            <a:avLst>
              <a:gd name="adj" fmla="val 3415"/>
            </a:avLst>
          </a:prstGeom>
          <a:solidFill>
            <a:srgbClr val="F5F8F9"/>
          </a:solidFill>
          <a:ln w="12700">
            <a:solidFill>
              <a:srgbClr val="F5F8F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" y="3538728"/>
            <a:ext cx="50292" cy="1874520"/>
          </a:xfrm>
          <a:prstGeom prst="rect">
            <a:avLst/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3776472"/>
            <a:ext cx="46817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FACTORY PRODUCES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86968" y="4311396"/>
            <a:ext cx="64922" cy="64922"/>
          </a:xfrm>
          <a:prstGeom prst="roundRect">
            <a:avLst>
              <a:gd name="adj" fmla="val 98592"/>
            </a:avLst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4187952"/>
            <a:ext cx="442569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metadata, searchable derivatives, tag sightings</a:t>
            </a:r>
            <a:endParaRPr lang="en-US" sz="1360" dirty="0"/>
          </a:p>
        </p:txBody>
      </p:sp>
      <p:sp>
        <p:nvSpPr>
          <p:cNvPr id="28" name="Shape 26"/>
          <p:cNvSpPr/>
          <p:nvPr/>
        </p:nvSpPr>
        <p:spPr>
          <a:xfrm>
            <a:off x="886968" y="4704588"/>
            <a:ext cx="64922" cy="64922"/>
          </a:xfrm>
          <a:prstGeom prst="roundRect">
            <a:avLst>
              <a:gd name="adj" fmla="val 98592"/>
            </a:avLst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4581144"/>
            <a:ext cx="442569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PI-to-CMMS and document-to-tag candidate registers</a:t>
            </a:r>
            <a:endParaRPr lang="en-US" sz="1360" dirty="0"/>
          </a:p>
        </p:txBody>
      </p:sp>
      <p:sp>
        <p:nvSpPr>
          <p:cNvPr id="30" name="Shape 28"/>
          <p:cNvSpPr/>
          <p:nvPr/>
        </p:nvSpPr>
        <p:spPr>
          <a:xfrm>
            <a:off x="886968" y="5097780"/>
            <a:ext cx="64922" cy="64922"/>
          </a:xfrm>
          <a:prstGeom prst="roundRect">
            <a:avLst>
              <a:gd name="adj" fmla="val 98592"/>
            </a:avLst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8992" y="4974336"/>
            <a:ext cx="442569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Evidence, confidence, lineage, reconciliation and exception status</a:t>
            </a:r>
            <a:endParaRPr lang="en-US" sz="1360" dirty="0"/>
          </a:p>
        </p:txBody>
      </p:sp>
      <p:sp>
        <p:nvSpPr>
          <p:cNvPr id="32" name="Shape 30"/>
          <p:cNvSpPr/>
          <p:nvPr/>
        </p:nvSpPr>
        <p:spPr>
          <a:xfrm>
            <a:off x="6117336" y="3538728"/>
            <a:ext cx="5394960" cy="1874520"/>
          </a:xfrm>
          <a:prstGeom prst="roundRect">
            <a:avLst>
              <a:gd name="adj" fmla="val 3415"/>
            </a:avLst>
          </a:prstGeom>
          <a:solidFill>
            <a:srgbClr val="EBF3F9"/>
          </a:solidFill>
          <a:ln w="12700">
            <a:solidFill>
              <a:srgbClr val="EBF3F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17336" y="3538728"/>
            <a:ext cx="50292" cy="1874520"/>
          </a:xfrm>
          <a:prstGeom prst="rect">
            <a:avLst/>
          </a:prstGeom>
          <a:solidFill>
            <a:srgbClr val="3A7199"/>
          </a:solidFill>
          <a:ln w="12700">
            <a:solidFill>
              <a:srgbClr val="3A71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3776472"/>
            <a:ext cx="4837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3A71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DEFINED BY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6355080" y="4311396"/>
            <a:ext cx="64922" cy="64922"/>
          </a:xfrm>
          <a:prstGeom prst="roundRect">
            <a:avLst>
              <a:gd name="adj" fmla="val 98592"/>
            </a:avLst>
          </a:prstGeom>
          <a:solidFill>
            <a:srgbClr val="3A7199"/>
          </a:solidFill>
          <a:ln w="12700">
            <a:solidFill>
              <a:srgbClr val="3A71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47104" y="4187952"/>
            <a:ext cx="459943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and source-accounting completeness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355080" y="4704588"/>
            <a:ext cx="64922" cy="64922"/>
          </a:xfrm>
          <a:prstGeom prst="roundRect">
            <a:avLst>
              <a:gd name="adj" fmla="val 98592"/>
            </a:avLst>
          </a:prstGeom>
          <a:solidFill>
            <a:srgbClr val="3A7199"/>
          </a:solidFill>
          <a:ln w="12700">
            <a:solidFill>
              <a:srgbClr val="3A71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47104" y="4581144"/>
            <a:ext cx="459943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precision AND recall, using customer-approved gold samples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355080" y="5097780"/>
            <a:ext cx="64922" cy="64922"/>
          </a:xfrm>
          <a:prstGeom prst="roundRect">
            <a:avLst>
              <a:gd name="adj" fmla="val 98592"/>
            </a:avLst>
          </a:prstGeom>
          <a:solidFill>
            <a:srgbClr val="3A7199"/>
          </a:solidFill>
          <a:ln w="12700">
            <a:solidFill>
              <a:srgbClr val="3A71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47104" y="4974336"/>
            <a:ext cx="459943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Unambiguous split of machine results vs reviewed / accepted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704088" y="5769864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Unknowns that drive cost: page count; native drawing support; number of tag sightings and relationships; revision conflicts.</a:t>
            </a:r>
            <a:endParaRPr lang="en-US" sz="13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283464"/>
            <a:ext cx="10561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65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OMAN LNG | AI-FIRST INFORMATION FACTORY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12648" y="676656"/>
            <a:ext cx="10972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2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information factory — deterministic controls + targeted reasoning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612648" y="1481328"/>
            <a:ext cx="10972800" cy="0"/>
          </a:xfrm>
          <a:prstGeom prst="line">
            <a:avLst/>
          </a:prstGeom>
          <a:noFill/>
          <a:ln w="12700">
            <a:solidFill>
              <a:srgbClr val="DD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BID STRATEGY  |  COMMERCIAL ASSUMPTIONS TO BE CONFIRMED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091672" y="6483096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8368" y="1993392"/>
            <a:ext cx="2084832" cy="2039112"/>
          </a:xfrm>
          <a:prstGeom prst="roundRect">
            <a:avLst>
              <a:gd name="adj" fmla="val 3139"/>
            </a:avLst>
          </a:prstGeom>
          <a:solidFill>
            <a:srgbClr val="F5F8F9"/>
          </a:solidFill>
          <a:ln w="12700">
            <a:solidFill>
              <a:srgbClr val="F5F8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993392"/>
            <a:ext cx="50292" cy="2039112"/>
          </a:xfrm>
          <a:prstGeom prst="rect">
            <a:avLst/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221992"/>
            <a:ext cx="1773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CONTROL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804672" y="2788920"/>
            <a:ext cx="1783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Receipts, inventory,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hashes and source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70632" y="2807208"/>
            <a:ext cx="173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2935224" y="1993392"/>
            <a:ext cx="2084832" cy="2039112"/>
          </a:xfrm>
          <a:prstGeom prst="roundRect">
            <a:avLst>
              <a:gd name="adj" fmla="val 3139"/>
            </a:avLst>
          </a:prstGeom>
          <a:solidFill>
            <a:srgbClr val="F5F8F9"/>
          </a:solidFill>
          <a:ln w="12700">
            <a:solidFill>
              <a:srgbClr val="F5F8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35224" y="1993392"/>
            <a:ext cx="50292" cy="2039112"/>
          </a:xfrm>
          <a:prstGeom prst="rect">
            <a:avLst/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81528" y="2221992"/>
            <a:ext cx="1773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EXTRACT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3081528" y="2788920"/>
            <a:ext cx="1783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text, OCR,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 readers and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47488" y="2807208"/>
            <a:ext cx="173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5212080" y="1993392"/>
            <a:ext cx="2084832" cy="2039112"/>
          </a:xfrm>
          <a:prstGeom prst="roundRect">
            <a:avLst>
              <a:gd name="adj" fmla="val 3139"/>
            </a:avLst>
          </a:prstGeom>
          <a:solidFill>
            <a:srgbClr val="F5F8F9"/>
          </a:solidFill>
          <a:ln w="12700">
            <a:solidFill>
              <a:srgbClr val="F5F8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0" y="1993392"/>
            <a:ext cx="50292" cy="2039112"/>
          </a:xfrm>
          <a:prstGeom prst="rect">
            <a:avLst/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58384" y="2221992"/>
            <a:ext cx="1773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IDENTIFY</a:t>
            </a:r>
            <a:endParaRPr lang="en-US" sz="1260" dirty="0"/>
          </a:p>
        </p:txBody>
      </p:sp>
      <p:sp>
        <p:nvSpPr>
          <p:cNvPr id="21" name="Text 19"/>
          <p:cNvSpPr/>
          <p:nvPr/>
        </p:nvSpPr>
        <p:spPr>
          <a:xfrm>
            <a:off x="5358384" y="2788920"/>
            <a:ext cx="1783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tag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sightings, aliases,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revision rules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24344" y="2807208"/>
            <a:ext cx="173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7488936" y="1993392"/>
            <a:ext cx="2084832" cy="2039112"/>
          </a:xfrm>
          <a:prstGeom prst="roundRect">
            <a:avLst>
              <a:gd name="adj" fmla="val 3139"/>
            </a:avLst>
          </a:prstGeom>
          <a:solidFill>
            <a:srgbClr val="EBF3F9"/>
          </a:solidFill>
          <a:ln w="12700">
            <a:solidFill>
              <a:srgbClr val="EBF3F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88936" y="1993392"/>
            <a:ext cx="50292" cy="2039112"/>
          </a:xfrm>
          <a:prstGeom prst="rect">
            <a:avLst/>
          </a:prstGeom>
          <a:solidFill>
            <a:srgbClr val="3A7199"/>
          </a:solidFill>
          <a:ln w="12700">
            <a:solidFill>
              <a:srgbClr val="3A71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35240" y="2221992"/>
            <a:ext cx="1773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3A71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MATCH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7635240" y="2788920"/>
            <a:ext cx="1783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CMMS/PI candidates,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unit/train logic,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selective LLM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0" y="2807208"/>
            <a:ext cx="173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700" dirty="0"/>
          </a:p>
        </p:txBody>
      </p:sp>
      <p:sp>
        <p:nvSpPr>
          <p:cNvPr id="28" name="Shape 26"/>
          <p:cNvSpPr/>
          <p:nvPr/>
        </p:nvSpPr>
        <p:spPr>
          <a:xfrm>
            <a:off x="9765792" y="1993392"/>
            <a:ext cx="2084832" cy="2039112"/>
          </a:xfrm>
          <a:prstGeom prst="roundRect">
            <a:avLst>
              <a:gd name="adj" fmla="val 3139"/>
            </a:avLst>
          </a:prstGeom>
          <a:solidFill>
            <a:srgbClr val="F5F8F9"/>
          </a:solidFill>
          <a:ln w="12700">
            <a:solidFill>
              <a:srgbClr val="F5F8F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65792" y="1993392"/>
            <a:ext cx="50292" cy="2039112"/>
          </a:xfrm>
          <a:prstGeom prst="rect">
            <a:avLst/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12096" y="2221992"/>
            <a:ext cx="1773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PACKAGE</a:t>
            </a:r>
            <a:endParaRPr lang="en-US" sz="1260" dirty="0"/>
          </a:p>
        </p:txBody>
      </p:sp>
      <p:sp>
        <p:nvSpPr>
          <p:cNvPr id="31" name="Text 29"/>
          <p:cNvSpPr/>
          <p:nvPr/>
        </p:nvSpPr>
        <p:spPr>
          <a:xfrm>
            <a:off x="9912096" y="2788920"/>
            <a:ext cx="1783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AIM-ready datasets,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evidence, exceptions,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reconciliation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42416" y="4526280"/>
            <a:ext cx="10040112" cy="19202"/>
          </a:xfrm>
          <a:prstGeom prst="rect">
            <a:avLst/>
          </a:prstGeom>
          <a:solidFill>
            <a:srgbClr val="3A7199"/>
          </a:solidFill>
          <a:ln w="12700">
            <a:solidFill>
              <a:srgbClr val="3A71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59936" y="4361688"/>
            <a:ext cx="4123944" cy="438912"/>
          </a:xfrm>
          <a:prstGeom prst="roundRect">
            <a:avLst>
              <a:gd name="adj" fmla="val 14583"/>
            </a:avLst>
          </a:prstGeom>
          <a:solidFill>
            <a:srgbClr val="122B40"/>
          </a:solidFill>
          <a:ln w="12700">
            <a:solidFill>
              <a:srgbClr val="122B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34256" y="4462272"/>
            <a:ext cx="3593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CROSS-CUTTING QUALITY GATES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667512" y="5102352"/>
            <a:ext cx="5312664" cy="731520"/>
          </a:xfrm>
          <a:prstGeom prst="roundRect">
            <a:avLst>
              <a:gd name="adj" fmla="val 8750"/>
            </a:avLst>
          </a:prstGeom>
          <a:solidFill>
            <a:srgbClr val="E9F5F1"/>
          </a:solidFill>
          <a:ln w="12700">
            <a:solidFill>
              <a:srgbClr val="E9F5F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7512" y="5102352"/>
            <a:ext cx="50292" cy="731520"/>
          </a:xfrm>
          <a:prstGeom prst="rect">
            <a:avLst/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6968" y="53035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checks on 100% of applicable records</a:t>
            </a:r>
            <a:endParaRPr lang="en-US" sz="1550" dirty="0"/>
          </a:p>
        </p:txBody>
      </p:sp>
      <p:sp>
        <p:nvSpPr>
          <p:cNvPr id="38" name="Shape 36"/>
          <p:cNvSpPr/>
          <p:nvPr/>
        </p:nvSpPr>
        <p:spPr>
          <a:xfrm>
            <a:off x="6199632" y="5102352"/>
            <a:ext cx="5312664" cy="731520"/>
          </a:xfrm>
          <a:prstGeom prst="roundRect">
            <a:avLst>
              <a:gd name="adj" fmla="val 8750"/>
            </a:avLst>
          </a:prstGeom>
          <a:solidFill>
            <a:srgbClr val="EBF3F9"/>
          </a:solidFill>
          <a:ln w="12700">
            <a:solidFill>
              <a:srgbClr val="EBF3F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99632" y="5102352"/>
            <a:ext cx="50292" cy="731520"/>
          </a:xfrm>
          <a:prstGeom prst="rect">
            <a:avLst/>
          </a:prstGeom>
          <a:solidFill>
            <a:srgbClr val="3A7199"/>
          </a:solidFill>
          <a:ln w="12700">
            <a:solidFill>
              <a:srgbClr val="3A71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19088" y="53035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Risk-based engineering review + client decisions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283464"/>
            <a:ext cx="10561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65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OMAN LNG | AI-FIRST INFORMATION FACTORY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12648" y="676656"/>
            <a:ext cx="10972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2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QA/QC: coverage is universal; engineering review is targeted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612648" y="1481328"/>
            <a:ext cx="10972800" cy="0"/>
          </a:xfrm>
          <a:prstGeom prst="line">
            <a:avLst/>
          </a:prstGeom>
          <a:noFill/>
          <a:ln w="12700">
            <a:solidFill>
              <a:srgbClr val="DD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BID STRATEGY  |  COMMERCIAL ASSUMPTIONS TO BE CONFIRMED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091672" y="6483096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67512" y="1874520"/>
            <a:ext cx="5239512" cy="3474720"/>
          </a:xfrm>
          <a:prstGeom prst="roundRect">
            <a:avLst>
              <a:gd name="adj" fmla="val 1842"/>
            </a:avLst>
          </a:prstGeom>
          <a:solidFill>
            <a:srgbClr val="E9F5F1"/>
          </a:solidFill>
          <a:ln w="12700">
            <a:solidFill>
              <a:srgbClr val="E9F5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" y="1874520"/>
            <a:ext cx="50292" cy="3474720"/>
          </a:xfrm>
          <a:prstGeom prst="rect">
            <a:avLst/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112264"/>
            <a:ext cx="4736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40" b="1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QA / QC</a:t>
            </a:r>
            <a:endParaRPr lang="en-US" sz="1840" dirty="0"/>
          </a:p>
        </p:txBody>
      </p:sp>
      <p:sp>
        <p:nvSpPr>
          <p:cNvPr id="11" name="Text 9"/>
          <p:cNvSpPr/>
          <p:nvPr/>
        </p:nvSpPr>
        <p:spPr>
          <a:xfrm>
            <a:off x="896112" y="2523744"/>
            <a:ext cx="4727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70" b="1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 of applicable records and batches</a:t>
            </a:r>
            <a:endParaRPr lang="en-US" sz="1570" dirty="0"/>
          </a:p>
        </p:txBody>
      </p:sp>
      <p:sp>
        <p:nvSpPr>
          <p:cNvPr id="12" name="Shape 10"/>
          <p:cNvSpPr/>
          <p:nvPr/>
        </p:nvSpPr>
        <p:spPr>
          <a:xfrm>
            <a:off x="905256" y="3177540"/>
            <a:ext cx="64922" cy="64922"/>
          </a:xfrm>
          <a:prstGeom prst="roundRect">
            <a:avLst>
              <a:gd name="adj" fmla="val 98592"/>
            </a:avLst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054096"/>
            <a:ext cx="44714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Inventory, hash and batch count reconciliation</a:t>
            </a:r>
            <a:endParaRPr lang="en-US" sz="1290" dirty="0"/>
          </a:p>
        </p:txBody>
      </p:sp>
      <p:sp>
        <p:nvSpPr>
          <p:cNvPr id="14" name="Shape 12"/>
          <p:cNvSpPr/>
          <p:nvPr/>
        </p:nvSpPr>
        <p:spPr>
          <a:xfrm>
            <a:off x="905256" y="3570732"/>
            <a:ext cx="64922" cy="64922"/>
          </a:xfrm>
          <a:prstGeom prst="roundRect">
            <a:avLst>
              <a:gd name="adj" fmla="val 98592"/>
            </a:avLst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447288"/>
            <a:ext cx="44714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 existence, format, duplicate and train/unit rules</a:t>
            </a:r>
            <a:endParaRPr lang="en-US" sz="1290" dirty="0"/>
          </a:p>
        </p:txBody>
      </p:sp>
      <p:sp>
        <p:nvSpPr>
          <p:cNvPr id="16" name="Shape 14"/>
          <p:cNvSpPr/>
          <p:nvPr/>
        </p:nvSpPr>
        <p:spPr>
          <a:xfrm>
            <a:off x="905256" y="3963924"/>
            <a:ext cx="64922" cy="64922"/>
          </a:xfrm>
          <a:prstGeom prst="roundRect">
            <a:avLst>
              <a:gd name="adj" fmla="val 98592"/>
            </a:avLst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840480"/>
            <a:ext cx="44714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Revision and document evidence consistency</a:t>
            </a:r>
            <a:endParaRPr lang="en-US" sz="1290" dirty="0"/>
          </a:p>
        </p:txBody>
      </p:sp>
      <p:sp>
        <p:nvSpPr>
          <p:cNvPr id="18" name="Shape 16"/>
          <p:cNvSpPr/>
          <p:nvPr/>
        </p:nvSpPr>
        <p:spPr>
          <a:xfrm>
            <a:off x="905256" y="4357116"/>
            <a:ext cx="64922" cy="64922"/>
          </a:xfrm>
          <a:prstGeom prst="roundRect">
            <a:avLst>
              <a:gd name="adj" fmla="val 98592"/>
            </a:avLst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233672"/>
            <a:ext cx="44714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PI-to-CMMS match constraints / candidate scoring</a:t>
            </a:r>
            <a:endParaRPr lang="en-US" sz="1290" dirty="0"/>
          </a:p>
        </p:txBody>
      </p:sp>
      <p:sp>
        <p:nvSpPr>
          <p:cNvPr id="20" name="Shape 18"/>
          <p:cNvSpPr/>
          <p:nvPr/>
        </p:nvSpPr>
        <p:spPr>
          <a:xfrm>
            <a:off x="905256" y="4750308"/>
            <a:ext cx="64922" cy="64922"/>
          </a:xfrm>
          <a:prstGeom prst="roundRect">
            <a:avLst>
              <a:gd name="adj" fmla="val 98592"/>
            </a:avLst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626864"/>
            <a:ext cx="44714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Schema, controlled values, identifiers and trial-load checks</a:t>
            </a:r>
            <a:endParaRPr lang="en-US" sz="1290" dirty="0"/>
          </a:p>
        </p:txBody>
      </p:sp>
      <p:sp>
        <p:nvSpPr>
          <p:cNvPr id="22" name="Shape 20"/>
          <p:cNvSpPr/>
          <p:nvPr/>
        </p:nvSpPr>
        <p:spPr>
          <a:xfrm>
            <a:off x="6172200" y="1874520"/>
            <a:ext cx="5340096" cy="3474720"/>
          </a:xfrm>
          <a:prstGeom prst="roundRect">
            <a:avLst>
              <a:gd name="adj" fmla="val 1842"/>
            </a:avLst>
          </a:prstGeom>
          <a:solidFill>
            <a:srgbClr val="EBF3F9"/>
          </a:solidFill>
          <a:ln w="12700">
            <a:solidFill>
              <a:srgbClr val="EBF3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1874520"/>
            <a:ext cx="50292" cy="3474720"/>
          </a:xfrm>
          <a:prstGeom prst="rect">
            <a:avLst/>
          </a:prstGeom>
          <a:solidFill>
            <a:srgbClr val="3A7199"/>
          </a:solidFill>
          <a:ln w="12700">
            <a:solidFill>
              <a:srgbClr val="3A71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112264"/>
            <a:ext cx="4828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40" b="1" dirty="0">
                <a:solidFill>
                  <a:srgbClr val="3A71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ASSURANCE</a:t>
            </a:r>
            <a:endParaRPr lang="en-US" sz="1840" dirty="0"/>
          </a:p>
        </p:txBody>
      </p:sp>
      <p:sp>
        <p:nvSpPr>
          <p:cNvPr id="25" name="Text 23"/>
          <p:cNvSpPr/>
          <p:nvPr/>
        </p:nvSpPr>
        <p:spPr>
          <a:xfrm>
            <a:off x="6400800" y="2532888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90" b="1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4,800 paid review hours (budget assumption)</a:t>
            </a:r>
            <a:endParaRPr lang="en-US" sz="1490" dirty="0"/>
          </a:p>
        </p:txBody>
      </p:sp>
      <p:sp>
        <p:nvSpPr>
          <p:cNvPr id="26" name="Shape 24"/>
          <p:cNvSpPr/>
          <p:nvPr/>
        </p:nvSpPr>
        <p:spPr>
          <a:xfrm>
            <a:off x="6409944" y="3177540"/>
            <a:ext cx="64922" cy="64922"/>
          </a:xfrm>
          <a:prstGeom prst="roundRect">
            <a:avLst>
              <a:gd name="adj" fmla="val 98592"/>
            </a:avLst>
          </a:prstGeom>
          <a:solidFill>
            <a:srgbClr val="3A7199"/>
          </a:solidFill>
          <a:ln w="12700">
            <a:solidFill>
              <a:srgbClr val="3A71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3054096"/>
            <a:ext cx="45262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Stratified gold-standard testing: precision and recall</a:t>
            </a:r>
            <a:endParaRPr lang="en-US" sz="1290" dirty="0"/>
          </a:p>
        </p:txBody>
      </p:sp>
      <p:sp>
        <p:nvSpPr>
          <p:cNvPr id="28" name="Shape 26"/>
          <p:cNvSpPr/>
          <p:nvPr/>
        </p:nvSpPr>
        <p:spPr>
          <a:xfrm>
            <a:off x="6409944" y="3570732"/>
            <a:ext cx="64922" cy="64922"/>
          </a:xfrm>
          <a:prstGeom prst="roundRect">
            <a:avLst>
              <a:gd name="adj" fmla="val 98592"/>
            </a:avLst>
          </a:prstGeom>
          <a:solidFill>
            <a:srgbClr val="3A7199"/>
          </a:solidFill>
          <a:ln w="12700">
            <a:solidFill>
              <a:srgbClr val="3A71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01968" y="3447288"/>
            <a:ext cx="45262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risk checks for ambiguous and high-impact links</a:t>
            </a:r>
            <a:endParaRPr lang="en-US" sz="1290" dirty="0"/>
          </a:p>
        </p:txBody>
      </p:sp>
      <p:sp>
        <p:nvSpPr>
          <p:cNvPr id="30" name="Shape 28"/>
          <p:cNvSpPr/>
          <p:nvPr/>
        </p:nvSpPr>
        <p:spPr>
          <a:xfrm>
            <a:off x="6409944" y="3963924"/>
            <a:ext cx="64922" cy="64922"/>
          </a:xfrm>
          <a:prstGeom prst="roundRect">
            <a:avLst>
              <a:gd name="adj" fmla="val 98592"/>
            </a:avLst>
          </a:prstGeom>
          <a:solidFill>
            <a:srgbClr val="3A7199"/>
          </a:solidFill>
          <a:ln w="12700">
            <a:solidFill>
              <a:srgbClr val="3A71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3840480"/>
            <a:ext cx="45262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reviews for PI mapping and document metadata</a:t>
            </a:r>
            <a:endParaRPr lang="en-US" sz="1290" dirty="0"/>
          </a:p>
        </p:txBody>
      </p:sp>
      <p:sp>
        <p:nvSpPr>
          <p:cNvPr id="32" name="Shape 30"/>
          <p:cNvSpPr/>
          <p:nvPr/>
        </p:nvSpPr>
        <p:spPr>
          <a:xfrm>
            <a:off x="6409944" y="4357116"/>
            <a:ext cx="64922" cy="64922"/>
          </a:xfrm>
          <a:prstGeom prst="roundRect">
            <a:avLst>
              <a:gd name="adj" fmla="val 98592"/>
            </a:avLst>
          </a:prstGeom>
          <a:solidFill>
            <a:srgbClr val="3A7199"/>
          </a:solidFill>
          <a:ln w="12700">
            <a:solidFill>
              <a:srgbClr val="3A71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01968" y="4233672"/>
            <a:ext cx="45262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lead calibrates reviewers and controls decisions</a:t>
            </a:r>
            <a:endParaRPr lang="en-US" sz="1290" dirty="0"/>
          </a:p>
        </p:txBody>
      </p:sp>
      <p:sp>
        <p:nvSpPr>
          <p:cNvPr id="34" name="Shape 32"/>
          <p:cNvSpPr/>
          <p:nvPr/>
        </p:nvSpPr>
        <p:spPr>
          <a:xfrm>
            <a:off x="6409944" y="4750308"/>
            <a:ext cx="64922" cy="64922"/>
          </a:xfrm>
          <a:prstGeom prst="roundRect">
            <a:avLst>
              <a:gd name="adj" fmla="val 98592"/>
            </a:avLst>
          </a:prstGeom>
          <a:solidFill>
            <a:srgbClr val="3A7199"/>
          </a:solidFill>
          <a:ln w="12700">
            <a:solidFill>
              <a:srgbClr val="3A71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01968" y="4626864"/>
            <a:ext cx="45262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Unresolved engineering decisions escalated to customer</a:t>
            </a:r>
            <a:endParaRPr lang="en-US" sz="1290" dirty="0"/>
          </a:p>
        </p:txBody>
      </p:sp>
      <p:sp>
        <p:nvSpPr>
          <p:cNvPr id="36" name="Shape 34"/>
          <p:cNvSpPr/>
          <p:nvPr/>
        </p:nvSpPr>
        <p:spPr>
          <a:xfrm>
            <a:off x="685800" y="5605272"/>
            <a:ext cx="10817352" cy="457200"/>
          </a:xfrm>
          <a:prstGeom prst="roundRect">
            <a:avLst>
              <a:gd name="adj" fmla="val 14000"/>
            </a:avLst>
          </a:prstGeom>
          <a:solidFill>
            <a:srgbClr val="FBF2E5"/>
          </a:solidFill>
          <a:ln w="12700">
            <a:solidFill>
              <a:srgbClr val="FBF2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6968" y="5687568"/>
            <a:ext cx="10387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A872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checks do NOT imply 100% accuracy; customer-defined thresholds and acceptance authority are mandatory.</a:t>
            </a:r>
            <a:endParaRPr lang="en-US" sz="13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283464"/>
            <a:ext cx="10561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65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OMAN LNG | AI-FIRST INFORMATION FACTORY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12648" y="676656"/>
            <a:ext cx="10972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2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data-quality scenarios affect assurance yield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612648" y="1481328"/>
            <a:ext cx="10972800" cy="0"/>
          </a:xfrm>
          <a:prstGeom prst="line">
            <a:avLst/>
          </a:prstGeom>
          <a:noFill/>
          <a:ln w="12700">
            <a:solidFill>
              <a:srgbClr val="DD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BID STRATEGY  |  COMMERCIAL ASSUMPTIONS TO BE CONFIRMED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091672" y="6483096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" y="1865376"/>
            <a:ext cx="10780776" cy="484632"/>
          </a:xfrm>
          <a:prstGeom prst="rect">
            <a:avLst/>
          </a:prstGeom>
          <a:solidFill>
            <a:srgbClr val="122B40"/>
          </a:solidFill>
          <a:ln w="12700">
            <a:solidFill>
              <a:srgbClr val="122B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993392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2798064" y="19933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CANDIDATES*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4800600" y="19933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CAPACITY**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6803136" y="1993392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EXPOSURE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85800" y="2487168"/>
            <a:ext cx="10780776" cy="804672"/>
          </a:xfrm>
          <a:prstGeom prst="roundRect">
            <a:avLst>
              <a:gd name="adj" fmla="val 7955"/>
            </a:avLst>
          </a:prstGeom>
          <a:solidFill>
            <a:srgbClr val="F5F8F9"/>
          </a:solidFill>
          <a:ln w="12700">
            <a:solidFill>
              <a:srgbClr val="F5F8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569464"/>
            <a:ext cx="17830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DECENT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2798064" y="2569464"/>
            <a:ext cx="17922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85–95%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4800600" y="2569464"/>
            <a:ext cx="17922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27k–43k</a:t>
            </a:r>
            <a:endParaRPr lang="en-US" sz="1340" dirty="0"/>
          </a:p>
        </p:txBody>
      </p:sp>
      <p:sp>
        <p:nvSpPr>
          <p:cNvPr id="17" name="Text 15"/>
          <p:cNvSpPr/>
          <p:nvPr/>
        </p:nvSpPr>
        <p:spPr>
          <a:xfrm>
            <a:off x="6803136" y="2569464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Mostly reliable native data; QA can cover many at-risk links.</a:t>
            </a:r>
            <a:endParaRPr lang="en-US" sz="1340" dirty="0"/>
          </a:p>
        </p:txBody>
      </p:sp>
      <p:sp>
        <p:nvSpPr>
          <p:cNvPr id="18" name="Shape 16"/>
          <p:cNvSpPr/>
          <p:nvPr/>
        </p:nvSpPr>
        <p:spPr>
          <a:xfrm>
            <a:off x="685800" y="3319272"/>
            <a:ext cx="10780776" cy="0"/>
          </a:xfrm>
          <a:prstGeom prst="line">
            <a:avLst/>
          </a:prstGeom>
          <a:noFill/>
          <a:ln w="12700">
            <a:solidFill>
              <a:srgbClr val="DDE6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410712"/>
            <a:ext cx="10780776" cy="804672"/>
          </a:xfrm>
          <a:prstGeom prst="roundRect">
            <a:avLst>
              <a:gd name="adj" fmla="val 7955"/>
            </a:avLst>
          </a:prstGeom>
          <a:solidFill>
            <a:srgbClr val="EBF3F9"/>
          </a:solidFill>
          <a:ln w="12700">
            <a:solidFill>
              <a:srgbClr val="EBF3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3493008"/>
            <a:ext cx="17830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3A71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</a:t>
            </a:r>
            <a:endParaRPr lang="en-US" sz="1340" dirty="0"/>
          </a:p>
        </p:txBody>
      </p:sp>
      <p:sp>
        <p:nvSpPr>
          <p:cNvPr id="21" name="Text 19"/>
          <p:cNvSpPr/>
          <p:nvPr/>
        </p:nvSpPr>
        <p:spPr>
          <a:xfrm>
            <a:off x="2798064" y="3493008"/>
            <a:ext cx="17922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60–80%</a:t>
            </a:r>
            <a:endParaRPr lang="en-US" sz="1340" dirty="0"/>
          </a:p>
        </p:txBody>
      </p:sp>
      <p:sp>
        <p:nvSpPr>
          <p:cNvPr id="22" name="Text 20"/>
          <p:cNvSpPr/>
          <p:nvPr/>
        </p:nvSpPr>
        <p:spPr>
          <a:xfrm>
            <a:off x="4800600" y="3493008"/>
            <a:ext cx="17922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18k–27k</a:t>
            </a:r>
            <a:endParaRPr lang="en-US" sz="1340" dirty="0"/>
          </a:p>
        </p:txBody>
      </p:sp>
      <p:sp>
        <p:nvSpPr>
          <p:cNvPr id="23" name="Text 21"/>
          <p:cNvSpPr/>
          <p:nvPr/>
        </p:nvSpPr>
        <p:spPr>
          <a:xfrm>
            <a:off x="6803136" y="3493008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Scans and inconsistent naming; material unresolved queue remains.</a:t>
            </a:r>
            <a:endParaRPr lang="en-US" sz="1340" dirty="0"/>
          </a:p>
        </p:txBody>
      </p:sp>
      <p:sp>
        <p:nvSpPr>
          <p:cNvPr id="24" name="Shape 22"/>
          <p:cNvSpPr/>
          <p:nvPr/>
        </p:nvSpPr>
        <p:spPr>
          <a:xfrm>
            <a:off x="685800" y="4242816"/>
            <a:ext cx="10780776" cy="0"/>
          </a:xfrm>
          <a:prstGeom prst="line">
            <a:avLst/>
          </a:prstGeom>
          <a:noFill/>
          <a:ln w="12700">
            <a:solidFill>
              <a:srgbClr val="DDE6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334256"/>
            <a:ext cx="10780776" cy="804672"/>
          </a:xfrm>
          <a:prstGeom prst="roundRect">
            <a:avLst>
              <a:gd name="adj" fmla="val 7955"/>
            </a:avLst>
          </a:prstGeom>
          <a:solidFill>
            <a:srgbClr val="F5F8F9"/>
          </a:solidFill>
          <a:ln w="12700">
            <a:solidFill>
              <a:srgbClr val="F5F8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4416552"/>
            <a:ext cx="17830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A84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REALLY BAD</a:t>
            </a:r>
            <a:endParaRPr lang="en-US" sz="1340" dirty="0"/>
          </a:p>
        </p:txBody>
      </p:sp>
      <p:sp>
        <p:nvSpPr>
          <p:cNvPr id="27" name="Text 25"/>
          <p:cNvSpPr/>
          <p:nvPr/>
        </p:nvSpPr>
        <p:spPr>
          <a:xfrm>
            <a:off x="2798064" y="4416552"/>
            <a:ext cx="17922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25–50%</a:t>
            </a:r>
            <a:endParaRPr lang="en-US" sz="1340" dirty="0"/>
          </a:p>
        </p:txBody>
      </p:sp>
      <p:sp>
        <p:nvSpPr>
          <p:cNvPr id="28" name="Text 26"/>
          <p:cNvSpPr/>
          <p:nvPr/>
        </p:nvSpPr>
        <p:spPr>
          <a:xfrm>
            <a:off x="4800600" y="4416552"/>
            <a:ext cx="17922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8.6k–14.4k</a:t>
            </a:r>
            <a:endParaRPr lang="en-US" sz="1340" dirty="0"/>
          </a:p>
        </p:txBody>
      </p:sp>
      <p:sp>
        <p:nvSpPr>
          <p:cNvPr id="29" name="Text 27"/>
          <p:cNvSpPr/>
          <p:nvPr/>
        </p:nvSpPr>
        <p:spPr>
          <a:xfrm>
            <a:off x="6803136" y="4416552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ambiguous or unreadable records; most exceptions require customer disposition.</a:t>
            </a:r>
            <a:endParaRPr lang="en-US" sz="1340" dirty="0"/>
          </a:p>
        </p:txBody>
      </p:sp>
      <p:sp>
        <p:nvSpPr>
          <p:cNvPr id="30" name="Shape 28"/>
          <p:cNvSpPr/>
          <p:nvPr/>
        </p:nvSpPr>
        <p:spPr>
          <a:xfrm>
            <a:off x="685800" y="5166360"/>
            <a:ext cx="10780776" cy="0"/>
          </a:xfrm>
          <a:prstGeom prst="line">
            <a:avLst/>
          </a:prstGeom>
          <a:noFill/>
          <a:ln w="12700">
            <a:solidFill>
              <a:srgbClr val="DDE6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4088" y="5385816"/>
            <a:ext cx="10789920" cy="685800"/>
          </a:xfrm>
          <a:prstGeom prst="roundRect">
            <a:avLst>
              <a:gd name="adj" fmla="val 9333"/>
            </a:avLst>
          </a:prstGeom>
          <a:solidFill>
            <a:srgbClr val="FBF2E5"/>
          </a:solidFill>
          <a:ln w="12700">
            <a:solidFill>
              <a:srgbClr val="FBF2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4088" y="5385816"/>
            <a:ext cx="50292" cy="685800"/>
          </a:xfrm>
          <a:prstGeom prst="rect">
            <a:avLst/>
          </a:prstGeom>
          <a:solidFill>
            <a:srgbClr val="A87228"/>
          </a:solidFill>
          <a:ln w="12700">
            <a:solidFill>
              <a:srgbClr val="A872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5256" y="5504688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A872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 Hypothetical high-confidence candidate share, NOT measured accuracy or engineering acceptance.  ** Assumes 3,600 productive hours and 5–25 min / review.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283464"/>
            <a:ext cx="10561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65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OMAN LNG | AI-FIRST INFORMATION FACTORY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12648" y="676656"/>
            <a:ext cx="10972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2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incremental $320k buys real specialist QA/QC capacity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612648" y="1481328"/>
            <a:ext cx="10972800" cy="0"/>
          </a:xfrm>
          <a:prstGeom prst="line">
            <a:avLst/>
          </a:prstGeom>
          <a:noFill/>
          <a:ln w="12700">
            <a:solidFill>
              <a:srgbClr val="DD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BID STRATEGY  |  COMMERCIAL ASSUMPTIONS TO BE CONFIRMED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091672" y="6483096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67512" y="1874520"/>
            <a:ext cx="10853928" cy="694944"/>
          </a:xfrm>
          <a:prstGeom prst="roundRect">
            <a:avLst>
              <a:gd name="adj" fmla="val 9211"/>
            </a:avLst>
          </a:prstGeom>
          <a:solidFill>
            <a:srgbClr val="F5F8F9"/>
          </a:solidFill>
          <a:ln w="12700">
            <a:solidFill>
              <a:srgbClr val="F5F8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" y="1874520"/>
            <a:ext cx="50292" cy="694944"/>
          </a:xfrm>
          <a:prstGeom prst="rect">
            <a:avLst/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993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/ DOCUMENT REVIEWERS</a:t>
            </a:r>
            <a:endParaRPr lang="en-US" sz="1410" dirty="0"/>
          </a:p>
        </p:txBody>
      </p:sp>
      <p:sp>
        <p:nvSpPr>
          <p:cNvPr id="11" name="Text 9"/>
          <p:cNvSpPr/>
          <p:nvPr/>
        </p:nvSpPr>
        <p:spPr>
          <a:xfrm>
            <a:off x="5614416" y="1993392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4,800 paid hours @ $50/h</a:t>
            </a:r>
            <a:endParaRPr lang="en-US" sz="1290" dirty="0"/>
          </a:p>
        </p:txBody>
      </p:sp>
      <p:sp>
        <p:nvSpPr>
          <p:cNvPr id="12" name="Text 10"/>
          <p:cNvSpPr/>
          <p:nvPr/>
        </p:nvSpPr>
        <p:spPr>
          <a:xfrm>
            <a:off x="9829800" y="1965960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830" b="1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$240k</a:t>
            </a:r>
            <a:endParaRPr lang="en-US" sz="1830" dirty="0"/>
          </a:p>
        </p:txBody>
      </p:sp>
      <p:sp>
        <p:nvSpPr>
          <p:cNvPr id="13" name="Shape 11"/>
          <p:cNvSpPr/>
          <p:nvPr/>
        </p:nvSpPr>
        <p:spPr>
          <a:xfrm>
            <a:off x="667512" y="2688336"/>
            <a:ext cx="10853928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" y="2688336"/>
            <a:ext cx="50292" cy="694944"/>
          </a:xfrm>
          <a:prstGeom prst="rect">
            <a:avLst/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28072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QA/QC LEAD</a:t>
            </a:r>
            <a:endParaRPr lang="en-US" sz="1410" dirty="0"/>
          </a:p>
        </p:txBody>
      </p:sp>
      <p:sp>
        <p:nvSpPr>
          <p:cNvPr id="16" name="Text 14"/>
          <p:cNvSpPr/>
          <p:nvPr/>
        </p:nvSpPr>
        <p:spPr>
          <a:xfrm>
            <a:off x="5614416" y="2807208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600 hours @ $70/h</a:t>
            </a:r>
            <a:endParaRPr lang="en-US" sz="1290" dirty="0"/>
          </a:p>
        </p:txBody>
      </p:sp>
      <p:sp>
        <p:nvSpPr>
          <p:cNvPr id="17" name="Text 15"/>
          <p:cNvSpPr/>
          <p:nvPr/>
        </p:nvSpPr>
        <p:spPr>
          <a:xfrm>
            <a:off x="9829800" y="2779776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830" b="1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$42k</a:t>
            </a:r>
            <a:endParaRPr lang="en-US" sz="1830" dirty="0"/>
          </a:p>
        </p:txBody>
      </p:sp>
      <p:sp>
        <p:nvSpPr>
          <p:cNvPr id="18" name="Shape 16"/>
          <p:cNvSpPr/>
          <p:nvPr/>
        </p:nvSpPr>
        <p:spPr>
          <a:xfrm>
            <a:off x="667512" y="3502152"/>
            <a:ext cx="10853928" cy="694944"/>
          </a:xfrm>
          <a:prstGeom prst="roundRect">
            <a:avLst>
              <a:gd name="adj" fmla="val 9211"/>
            </a:avLst>
          </a:prstGeom>
          <a:solidFill>
            <a:srgbClr val="F5F8F9"/>
          </a:solidFill>
          <a:ln w="12700">
            <a:solidFill>
              <a:srgbClr val="F5F8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" y="3502152"/>
            <a:ext cx="50292" cy="694944"/>
          </a:xfrm>
          <a:prstGeom prst="rect">
            <a:avLst/>
          </a:prstGeom>
          <a:solidFill>
            <a:srgbClr val="3A7199"/>
          </a:solidFill>
          <a:ln w="12700">
            <a:solidFill>
              <a:srgbClr val="3A71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" y="36210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QA RULES + DASHBOARDS</a:t>
            </a:r>
            <a:endParaRPr lang="en-US" sz="1410" dirty="0"/>
          </a:p>
        </p:txBody>
      </p:sp>
      <p:sp>
        <p:nvSpPr>
          <p:cNvPr id="21" name="Text 19"/>
          <p:cNvSpPr/>
          <p:nvPr/>
        </p:nvSpPr>
        <p:spPr>
          <a:xfrm>
            <a:off x="5614416" y="3621024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tests, metrics, defects</a:t>
            </a:r>
            <a:endParaRPr lang="en-US" sz="1290" dirty="0"/>
          </a:p>
        </p:txBody>
      </p:sp>
      <p:sp>
        <p:nvSpPr>
          <p:cNvPr id="22" name="Text 20"/>
          <p:cNvSpPr/>
          <p:nvPr/>
        </p:nvSpPr>
        <p:spPr>
          <a:xfrm>
            <a:off x="9829800" y="3593592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830" b="1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$25k</a:t>
            </a:r>
            <a:endParaRPr lang="en-US" sz="1830" dirty="0"/>
          </a:p>
        </p:txBody>
      </p:sp>
      <p:sp>
        <p:nvSpPr>
          <p:cNvPr id="23" name="Shape 21"/>
          <p:cNvSpPr/>
          <p:nvPr/>
        </p:nvSpPr>
        <p:spPr>
          <a:xfrm>
            <a:off x="667512" y="4315968"/>
            <a:ext cx="10853928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" y="4315968"/>
            <a:ext cx="50292" cy="694944"/>
          </a:xfrm>
          <a:prstGeom prst="rect">
            <a:avLst/>
          </a:prstGeom>
          <a:solidFill>
            <a:srgbClr val="3A7199"/>
          </a:solidFill>
          <a:ln w="12700">
            <a:solidFill>
              <a:srgbClr val="3A71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44348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REPORTING / TRIAL LOAD</a:t>
            </a:r>
            <a:endParaRPr lang="en-US" sz="1410" dirty="0"/>
          </a:p>
        </p:txBody>
      </p:sp>
      <p:sp>
        <p:nvSpPr>
          <p:cNvPr id="26" name="Text 24"/>
          <p:cNvSpPr/>
          <p:nvPr/>
        </p:nvSpPr>
        <p:spPr>
          <a:xfrm>
            <a:off x="5614416" y="4434840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reports and load support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9829800" y="440740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830" b="1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$13k</a:t>
            </a:r>
            <a:endParaRPr lang="en-US" sz="1830" dirty="0"/>
          </a:p>
        </p:txBody>
      </p:sp>
      <p:sp>
        <p:nvSpPr>
          <p:cNvPr id="28" name="Shape 26"/>
          <p:cNvSpPr/>
          <p:nvPr/>
        </p:nvSpPr>
        <p:spPr>
          <a:xfrm>
            <a:off x="676656" y="5449824"/>
            <a:ext cx="10826496" cy="640080"/>
          </a:xfrm>
          <a:prstGeom prst="roundRect">
            <a:avLst>
              <a:gd name="adj" fmla="val 10000"/>
            </a:avLst>
          </a:prstGeom>
          <a:solidFill>
            <a:srgbClr val="122B40"/>
          </a:solidFill>
          <a:ln w="12700">
            <a:solidFill>
              <a:srgbClr val="122B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3544" y="5605272"/>
            <a:ext cx="10314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4,800 paid hours  ×  75% planning productivity  =  3,600 effective case-review hours</a:t>
            </a:r>
            <a:endParaRPr lang="en-US" sz="18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283464"/>
            <a:ext cx="10561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65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OMAN LNG | AI-FIRST INFORMATION FACTORY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12648" y="676656"/>
            <a:ext cx="10972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2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Commercial bridge: $400k factory → $800k factory + assurance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612648" y="1481328"/>
            <a:ext cx="10972800" cy="0"/>
          </a:xfrm>
          <a:prstGeom prst="line">
            <a:avLst/>
          </a:prstGeom>
          <a:noFill/>
          <a:ln w="12700">
            <a:solidFill>
              <a:srgbClr val="DD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BID STRATEGY  |  COMMERCIAL ASSUMPTIONS TO BE CONFIRMED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091672" y="6483096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883664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Factory labour &amp; configuration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5614416" y="1960474"/>
            <a:ext cx="4078224" cy="128016"/>
          </a:xfrm>
          <a:prstGeom prst="roundRect">
            <a:avLst>
              <a:gd name="adj" fmla="val 50000"/>
            </a:avLst>
          </a:prstGeom>
          <a:solidFill>
            <a:srgbClr val="E5ECEF"/>
          </a:solidFill>
          <a:ln w="12700">
            <a:solidFill>
              <a:srgbClr val="E5EC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14416" y="1960474"/>
            <a:ext cx="3915095" cy="128016"/>
          </a:xfrm>
          <a:prstGeom prst="roundRect">
            <a:avLst>
              <a:gd name="adj" fmla="val 50000"/>
            </a:avLst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12096" y="188366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$230.4k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33172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OCR / models / compute &amp; licences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5614416" y="2408530"/>
            <a:ext cx="4078224" cy="128016"/>
          </a:xfrm>
          <a:prstGeom prst="roundRect">
            <a:avLst>
              <a:gd name="adj" fmla="val 50000"/>
            </a:avLst>
          </a:prstGeom>
          <a:solidFill>
            <a:srgbClr val="E5ECEF"/>
          </a:solidFill>
          <a:ln w="12700">
            <a:solidFill>
              <a:srgbClr val="E5EC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14416" y="2408530"/>
            <a:ext cx="764667" cy="128016"/>
          </a:xfrm>
          <a:prstGeom prst="roundRect">
            <a:avLst>
              <a:gd name="adj" fmla="val 50000"/>
            </a:avLst>
          </a:prstGeom>
          <a:solidFill>
            <a:srgbClr val="3A7199"/>
          </a:solidFill>
          <a:ln w="12700">
            <a:solidFill>
              <a:srgbClr val="3A71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12096" y="233172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$45.0k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2779776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Security, interfaces &amp; trial-load support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5614416" y="2856586"/>
            <a:ext cx="4078224" cy="128016"/>
          </a:xfrm>
          <a:prstGeom prst="roundRect">
            <a:avLst>
              <a:gd name="adj" fmla="val 50000"/>
            </a:avLst>
          </a:prstGeom>
          <a:solidFill>
            <a:srgbClr val="E5ECEF"/>
          </a:solidFill>
          <a:ln w="12700">
            <a:solidFill>
              <a:srgbClr val="E5EC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14416" y="2856586"/>
            <a:ext cx="203911" cy="128016"/>
          </a:xfrm>
          <a:prstGeom prst="roundRect">
            <a:avLst>
              <a:gd name="adj" fmla="val 50000"/>
            </a:avLst>
          </a:prstGeom>
          <a:solidFill>
            <a:srgbClr val="A87228"/>
          </a:solidFill>
          <a:ln w="12700">
            <a:solidFill>
              <a:srgbClr val="A872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12096" y="2779776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$12.0k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322783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factory contingency / rework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5614416" y="3304642"/>
            <a:ext cx="4078224" cy="128016"/>
          </a:xfrm>
          <a:prstGeom prst="roundRect">
            <a:avLst>
              <a:gd name="adj" fmla="val 50000"/>
            </a:avLst>
          </a:prstGeom>
          <a:solidFill>
            <a:srgbClr val="E5ECEF"/>
          </a:solidFill>
          <a:ln w="12700">
            <a:solidFill>
              <a:srgbClr val="E5EC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14416" y="3304642"/>
            <a:ext cx="553959" cy="128016"/>
          </a:xfrm>
          <a:prstGeom prst="roundRect">
            <a:avLst>
              <a:gd name="adj" fmla="val 50000"/>
            </a:avLst>
          </a:prstGeom>
          <a:solidFill>
            <a:srgbClr val="536B79"/>
          </a:solidFill>
          <a:ln w="12700">
            <a:solidFill>
              <a:srgbClr val="536B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12096" y="322783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$32.6k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3675888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/ document reviewers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5614416" y="3752698"/>
            <a:ext cx="4078224" cy="128016"/>
          </a:xfrm>
          <a:prstGeom prst="roundRect">
            <a:avLst>
              <a:gd name="adj" fmla="val 50000"/>
            </a:avLst>
          </a:prstGeom>
          <a:solidFill>
            <a:srgbClr val="E5ECEF"/>
          </a:solidFill>
          <a:ln w="12700">
            <a:solidFill>
              <a:srgbClr val="E5EC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14416" y="3752698"/>
            <a:ext cx="4078224" cy="128016"/>
          </a:xfrm>
          <a:prstGeom prst="roundRect">
            <a:avLst>
              <a:gd name="adj" fmla="val 50000"/>
            </a:avLst>
          </a:prstGeom>
          <a:solidFill>
            <a:srgbClr val="138F87"/>
          </a:solidFill>
          <a:ln w="12700">
            <a:solidFill>
              <a:srgbClr val="138F8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12096" y="367588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$240.0k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" y="4123944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QA lead</a:t>
            </a:r>
            <a:endParaRPr lang="en-US" sz="1280" dirty="0"/>
          </a:p>
        </p:txBody>
      </p:sp>
      <p:sp>
        <p:nvSpPr>
          <p:cNvPr id="29" name="Shape 27"/>
          <p:cNvSpPr/>
          <p:nvPr/>
        </p:nvSpPr>
        <p:spPr>
          <a:xfrm>
            <a:off x="5614416" y="4200754"/>
            <a:ext cx="4078224" cy="128016"/>
          </a:xfrm>
          <a:prstGeom prst="roundRect">
            <a:avLst>
              <a:gd name="adj" fmla="val 50000"/>
            </a:avLst>
          </a:prstGeom>
          <a:solidFill>
            <a:srgbClr val="E5ECEF"/>
          </a:solidFill>
          <a:ln w="12700">
            <a:solidFill>
              <a:srgbClr val="E5EC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14416" y="4200754"/>
            <a:ext cx="713689" cy="128016"/>
          </a:xfrm>
          <a:prstGeom prst="roundRect">
            <a:avLst>
              <a:gd name="adj" fmla="val 50000"/>
            </a:avLst>
          </a:prstGeom>
          <a:solidFill>
            <a:srgbClr val="3A7199"/>
          </a:solidFill>
          <a:ln w="12700">
            <a:solidFill>
              <a:srgbClr val="3A71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12096" y="412394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$42.0k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1520" y="457200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QA engineering</a:t>
            </a:r>
            <a:endParaRPr lang="en-US" sz="1280" dirty="0"/>
          </a:p>
        </p:txBody>
      </p:sp>
      <p:sp>
        <p:nvSpPr>
          <p:cNvPr id="33" name="Shape 31"/>
          <p:cNvSpPr/>
          <p:nvPr/>
        </p:nvSpPr>
        <p:spPr>
          <a:xfrm>
            <a:off x="5614416" y="4648810"/>
            <a:ext cx="4078224" cy="128016"/>
          </a:xfrm>
          <a:prstGeom prst="roundRect">
            <a:avLst>
              <a:gd name="adj" fmla="val 50000"/>
            </a:avLst>
          </a:prstGeom>
          <a:solidFill>
            <a:srgbClr val="E5ECEF"/>
          </a:solidFill>
          <a:ln w="12700">
            <a:solidFill>
              <a:srgbClr val="E5EC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14416" y="4648810"/>
            <a:ext cx="424815" cy="128016"/>
          </a:xfrm>
          <a:prstGeom prst="roundRect">
            <a:avLst>
              <a:gd name="adj" fmla="val 50000"/>
            </a:avLst>
          </a:prstGeom>
          <a:solidFill>
            <a:srgbClr val="A87228"/>
          </a:solidFill>
          <a:ln w="12700">
            <a:solidFill>
              <a:srgbClr val="A872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12096" y="457200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$25.0k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31520" y="5020056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QA reporting</a:t>
            </a:r>
            <a:endParaRPr lang="en-US" sz="1280" dirty="0"/>
          </a:p>
        </p:txBody>
      </p:sp>
      <p:sp>
        <p:nvSpPr>
          <p:cNvPr id="37" name="Shape 35"/>
          <p:cNvSpPr/>
          <p:nvPr/>
        </p:nvSpPr>
        <p:spPr>
          <a:xfrm>
            <a:off x="5614416" y="5096866"/>
            <a:ext cx="4078224" cy="128016"/>
          </a:xfrm>
          <a:prstGeom prst="roundRect">
            <a:avLst>
              <a:gd name="adj" fmla="val 50000"/>
            </a:avLst>
          </a:prstGeom>
          <a:solidFill>
            <a:srgbClr val="E5ECEF"/>
          </a:solidFill>
          <a:ln w="12700">
            <a:solidFill>
              <a:srgbClr val="E5EC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14416" y="5096866"/>
            <a:ext cx="220904" cy="128016"/>
          </a:xfrm>
          <a:prstGeom prst="roundRect">
            <a:avLst>
              <a:gd name="adj" fmla="val 50000"/>
            </a:avLst>
          </a:prstGeom>
          <a:solidFill>
            <a:srgbClr val="536B79"/>
          </a:solidFill>
          <a:ln w="12700">
            <a:solidFill>
              <a:srgbClr val="536B7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12096" y="5020056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$13.0k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85800" y="5596128"/>
            <a:ext cx="3374136" cy="539496"/>
          </a:xfrm>
          <a:prstGeom prst="roundRect">
            <a:avLst>
              <a:gd name="adj" fmla="val 11864"/>
            </a:avLst>
          </a:prstGeom>
          <a:solidFill>
            <a:srgbClr val="E9F5F1"/>
          </a:solidFill>
          <a:ln w="12700">
            <a:solidFill>
              <a:srgbClr val="E9F5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2688" y="5696712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FACTORY   $320k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4206240" y="5596128"/>
            <a:ext cx="3438144" cy="539496"/>
          </a:xfrm>
          <a:prstGeom prst="roundRect">
            <a:avLst>
              <a:gd name="adj" fmla="val 11864"/>
            </a:avLst>
          </a:prstGeom>
          <a:solidFill>
            <a:srgbClr val="EBF3F9"/>
          </a:solidFill>
          <a:ln w="12700">
            <a:solidFill>
              <a:srgbClr val="EBF3F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16552" y="5696712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A71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/ QC   $320k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7808976" y="5596128"/>
            <a:ext cx="3694176" cy="539496"/>
          </a:xfrm>
          <a:prstGeom prst="roundRect">
            <a:avLst>
              <a:gd name="adj" fmla="val 11864"/>
            </a:avLst>
          </a:prstGeom>
          <a:solidFill>
            <a:srgbClr val="122B40"/>
          </a:solidFill>
          <a:ln w="12700">
            <a:solidFill>
              <a:srgbClr val="122B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37576" y="5696712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BID PRICE  $800k</a:t>
            </a:r>
            <a:endParaRPr lang="en-US" sz="17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283464"/>
            <a:ext cx="10561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65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OMAN LNG | AI-FIRST INFORMATION FACTORY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12648" y="676656"/>
            <a:ext cx="10972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2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is a cost and compliance decision — not a model contest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612648" y="1481328"/>
            <a:ext cx="10972800" cy="0"/>
          </a:xfrm>
          <a:prstGeom prst="line">
            <a:avLst/>
          </a:prstGeom>
          <a:noFill/>
          <a:ln w="12700">
            <a:solidFill>
              <a:srgbClr val="DD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BID STRATEGY  |  COMMERCIAL ASSUMPTIONS TO BE CONFIRMED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091672" y="6483096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67512" y="1892808"/>
            <a:ext cx="10799064" cy="484632"/>
          </a:xfrm>
          <a:prstGeom prst="rect">
            <a:avLst/>
          </a:prstGeom>
          <a:solidFill>
            <a:srgbClr val="122B40"/>
          </a:solidFill>
          <a:ln w="12700">
            <a:solidFill>
              <a:srgbClr val="122B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020824"/>
            <a:ext cx="2761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/ OPTION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3758184" y="2020824"/>
            <a:ext cx="3511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PREFERRED ROLE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7479792" y="2020824"/>
            <a:ext cx="3895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TO VALIDATE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67512" y="2478024"/>
            <a:ext cx="10799064" cy="676656"/>
          </a:xfrm>
          <a:prstGeom prst="roundRect">
            <a:avLst>
              <a:gd name="adj" fmla="val 9459"/>
            </a:avLst>
          </a:prstGeom>
          <a:solidFill>
            <a:srgbClr val="F5F8F9"/>
          </a:solidFill>
          <a:ln w="12700">
            <a:solidFill>
              <a:srgbClr val="F5F8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560320"/>
            <a:ext cx="27614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+ native readers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3758184" y="2560320"/>
            <a:ext cx="35112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Bulk extraction; format-specific parsing; regex; exact/alias checks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7479792" y="2560320"/>
            <a:ext cx="389534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Must be primary throughput engine.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667512" y="3182112"/>
            <a:ext cx="10799064" cy="0"/>
          </a:xfrm>
          <a:prstGeom prst="line">
            <a:avLst/>
          </a:prstGeom>
          <a:noFill/>
          <a:ln w="12700">
            <a:solidFill>
              <a:srgbClr val="DDE6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" y="3236976"/>
            <a:ext cx="1079906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3319272"/>
            <a:ext cx="27614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enterprise LLM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3758184" y="3319272"/>
            <a:ext cx="35112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Reasoning on conflicted metadata and ambiguous tags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7479792" y="3319272"/>
            <a:ext cx="389534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Oman LNG-approved endpoint, residency, retention, cost.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667512" y="3941064"/>
            <a:ext cx="10799064" cy="0"/>
          </a:xfrm>
          <a:prstGeom prst="line">
            <a:avLst/>
          </a:prstGeom>
          <a:noFill/>
          <a:ln w="12700">
            <a:solidFill>
              <a:srgbClr val="DDE6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" y="3995928"/>
            <a:ext cx="10799064" cy="676656"/>
          </a:xfrm>
          <a:prstGeom prst="roundRect">
            <a:avLst>
              <a:gd name="adj" fmla="val 9459"/>
            </a:avLst>
          </a:prstGeom>
          <a:solidFill>
            <a:srgbClr val="F5F8F9"/>
          </a:solidFill>
          <a:ln w="12700">
            <a:solidFill>
              <a:srgbClr val="F5F8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4078224"/>
            <a:ext cx="27614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Self-hosted open weights</a:t>
            </a:r>
            <a:endParaRPr lang="en-US" sz="1240" dirty="0"/>
          </a:p>
        </p:txBody>
      </p:sp>
      <p:sp>
        <p:nvSpPr>
          <p:cNvPr id="24" name="Text 22"/>
          <p:cNvSpPr/>
          <p:nvPr/>
        </p:nvSpPr>
        <p:spPr>
          <a:xfrm>
            <a:off x="3758184" y="4078224"/>
            <a:ext cx="35112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sensitive-data local inference (e.g., Llama/Qwen/Mistral)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7479792" y="4078224"/>
            <a:ext cx="389534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GPU/infrastructure cost and quality compared in pilot.</a:t>
            </a:r>
            <a:endParaRPr lang="en-US" sz="1240" dirty="0"/>
          </a:p>
        </p:txBody>
      </p:sp>
      <p:sp>
        <p:nvSpPr>
          <p:cNvPr id="26" name="Shape 24"/>
          <p:cNvSpPr/>
          <p:nvPr/>
        </p:nvSpPr>
        <p:spPr>
          <a:xfrm>
            <a:off x="667512" y="4700016"/>
            <a:ext cx="10799064" cy="0"/>
          </a:xfrm>
          <a:prstGeom prst="line">
            <a:avLst/>
          </a:prstGeom>
          <a:noFill/>
          <a:ln w="12700">
            <a:solidFill>
              <a:srgbClr val="DDE6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" y="4754880"/>
            <a:ext cx="10799064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4837176"/>
            <a:ext cx="27614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AHA/IDB, DataGate, RDL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3758184" y="4837176"/>
            <a:ext cx="35112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standards / staging / bulk-loading reuse</a:t>
            </a:r>
            <a:endParaRPr lang="en-US" sz="1240" dirty="0"/>
          </a:p>
        </p:txBody>
      </p:sp>
      <p:sp>
        <p:nvSpPr>
          <p:cNvPr id="30" name="Text 28"/>
          <p:cNvSpPr/>
          <p:nvPr/>
        </p:nvSpPr>
        <p:spPr>
          <a:xfrm>
            <a:off x="7479792" y="4837176"/>
            <a:ext cx="389534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support, licences and applicability unknown.</a:t>
            </a:r>
            <a:endParaRPr lang="en-US" sz="1240" dirty="0"/>
          </a:p>
        </p:txBody>
      </p:sp>
      <p:sp>
        <p:nvSpPr>
          <p:cNvPr id="31" name="Shape 29"/>
          <p:cNvSpPr/>
          <p:nvPr/>
        </p:nvSpPr>
        <p:spPr>
          <a:xfrm>
            <a:off x="667512" y="5458968"/>
            <a:ext cx="10799064" cy="0"/>
          </a:xfrm>
          <a:prstGeom prst="line">
            <a:avLst/>
          </a:prstGeom>
          <a:noFill/>
          <a:ln w="12700">
            <a:solidFill>
              <a:srgbClr val="DDE6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" y="5715000"/>
            <a:ext cx="10799064" cy="374904"/>
          </a:xfrm>
          <a:prstGeom prst="roundRect">
            <a:avLst>
              <a:gd name="adj" fmla="val 17073"/>
            </a:avLst>
          </a:prstGeom>
          <a:solidFill>
            <a:srgbClr val="FBF2E5"/>
          </a:solidFill>
          <a:ln w="12700">
            <a:solidFill>
              <a:srgbClr val="FBF2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9536" y="5779008"/>
            <a:ext cx="10415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A872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public/consumer AI uploads; no new standalone asset hierarchy or knowledge graph under the base tender.</a:t>
            </a:r>
            <a:endParaRPr lang="en-US" sz="12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283464"/>
            <a:ext cx="10561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65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OMAN LNG | AI-FIRST INFORMATION FACTORY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12648" y="676656"/>
            <a:ext cx="10972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2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we must negotiate the acceptance boundary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612648" y="1481328"/>
            <a:ext cx="10972800" cy="0"/>
          </a:xfrm>
          <a:prstGeom prst="line">
            <a:avLst/>
          </a:prstGeom>
          <a:noFill/>
          <a:ln w="12700">
            <a:solidFill>
              <a:srgbClr val="DD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BID STRATEGY  |  COMMERCIAL ASSUMPTIONS TO BE CONFIRMED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091672" y="6483096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67512" y="1883664"/>
            <a:ext cx="5266944" cy="3520440"/>
          </a:xfrm>
          <a:prstGeom prst="roundRect">
            <a:avLst>
              <a:gd name="adj" fmla="val 1818"/>
            </a:avLst>
          </a:prstGeom>
          <a:solidFill>
            <a:srgbClr val="F5F8F9"/>
          </a:solidFill>
          <a:ln w="12700">
            <a:solidFill>
              <a:srgbClr val="F5F8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" y="1883664"/>
            <a:ext cx="50292" cy="3520440"/>
          </a:xfrm>
          <a:prstGeom prst="rect">
            <a:avLst/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139696"/>
            <a:ext cx="4791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EXCLUDED: CUSTOMER SOURCE REMEDIATION</a:t>
            </a:r>
            <a:endParaRPr lang="en-US" sz="1680" dirty="0"/>
          </a:p>
        </p:txBody>
      </p:sp>
      <p:sp>
        <p:nvSpPr>
          <p:cNvPr id="11" name="Shape 9"/>
          <p:cNvSpPr/>
          <p:nvPr/>
        </p:nvSpPr>
        <p:spPr>
          <a:xfrm>
            <a:off x="896112" y="2830068"/>
            <a:ext cx="64922" cy="64922"/>
          </a:xfrm>
          <a:prstGeom prst="roundRect">
            <a:avLst>
              <a:gd name="adj" fmla="val 98592"/>
            </a:avLst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8136" y="2706624"/>
            <a:ext cx="451713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changes to CMMS or PI source records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96112" y="3332988"/>
            <a:ext cx="64922" cy="64922"/>
          </a:xfrm>
          <a:prstGeom prst="roundRect">
            <a:avLst>
              <a:gd name="adj" fmla="val 98592"/>
            </a:avLst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8136" y="3209544"/>
            <a:ext cx="451713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repair of original drawings / engineering redlining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896112" y="3835908"/>
            <a:ext cx="64922" cy="64922"/>
          </a:xfrm>
          <a:prstGeom prst="roundRect">
            <a:avLst>
              <a:gd name="adj" fmla="val 98592"/>
            </a:avLst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8136" y="3712464"/>
            <a:ext cx="451713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new tags or redesign of existing hierarchy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896112" y="4338828"/>
            <a:ext cx="64922" cy="64922"/>
          </a:xfrm>
          <a:prstGeom prst="roundRect">
            <a:avLst>
              <a:gd name="adj" fmla="val 98592"/>
            </a:avLst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8136" y="4215384"/>
            <a:ext cx="451713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Unsupported or unreadable files must still be dispositioned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6181344" y="1883664"/>
            <a:ext cx="5321808" cy="3520440"/>
          </a:xfrm>
          <a:prstGeom prst="roundRect">
            <a:avLst>
              <a:gd name="adj" fmla="val 1818"/>
            </a:avLst>
          </a:prstGeom>
          <a:solidFill>
            <a:srgbClr val="F9EBE9"/>
          </a:solidFill>
          <a:ln w="12700">
            <a:solidFill>
              <a:srgbClr val="F9EB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81344" y="1883664"/>
            <a:ext cx="50292" cy="3520440"/>
          </a:xfrm>
          <a:prstGeom prst="rect">
            <a:avLst/>
          </a:prstGeom>
          <a:solidFill>
            <a:srgbClr val="A84A48"/>
          </a:solidFill>
          <a:ln w="12700">
            <a:solidFill>
              <a:srgbClr val="A84A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9088" y="2139696"/>
            <a:ext cx="4791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A84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STILL REQUIRED: OUR OWN DEFECT CORRECTION</a:t>
            </a:r>
            <a:endParaRPr lang="en-US" sz="1620" dirty="0"/>
          </a:p>
        </p:txBody>
      </p:sp>
      <p:sp>
        <p:nvSpPr>
          <p:cNvPr id="22" name="Shape 20"/>
          <p:cNvSpPr/>
          <p:nvPr/>
        </p:nvSpPr>
        <p:spPr>
          <a:xfrm>
            <a:off x="6428232" y="2830068"/>
            <a:ext cx="64922" cy="64922"/>
          </a:xfrm>
          <a:prstGeom prst="roundRect">
            <a:avLst>
              <a:gd name="adj" fmla="val 98592"/>
            </a:avLst>
          </a:prstGeom>
          <a:solidFill>
            <a:srgbClr val="A84A48"/>
          </a:solidFill>
          <a:ln w="12700">
            <a:solidFill>
              <a:srgbClr val="A84A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0256" y="2706624"/>
            <a:ext cx="451713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 extraction, formatting, lineage or schema defects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6428232" y="3332988"/>
            <a:ext cx="64922" cy="64922"/>
          </a:xfrm>
          <a:prstGeom prst="roundRect">
            <a:avLst>
              <a:gd name="adj" fmla="val 98592"/>
            </a:avLst>
          </a:prstGeom>
          <a:solidFill>
            <a:srgbClr val="A84A48"/>
          </a:solidFill>
          <a:ln w="12700">
            <a:solidFill>
              <a:srgbClr val="A84A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0256" y="3209544"/>
            <a:ext cx="451713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Retain evidence and reconcile every source record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6428232" y="3835908"/>
            <a:ext cx="64922" cy="64922"/>
          </a:xfrm>
          <a:prstGeom prst="roundRect">
            <a:avLst>
              <a:gd name="adj" fmla="val 98592"/>
            </a:avLst>
          </a:prstGeom>
          <a:solidFill>
            <a:srgbClr val="A84A48"/>
          </a:solidFill>
          <a:ln w="12700">
            <a:solidFill>
              <a:srgbClr val="A84A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0256" y="3712464"/>
            <a:ext cx="451713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 AIM trial load and correct rejected outputs</a:t>
            </a:r>
            <a:endParaRPr lang="en-US" sz="1320" dirty="0"/>
          </a:p>
        </p:txBody>
      </p:sp>
      <p:sp>
        <p:nvSpPr>
          <p:cNvPr id="28" name="Shape 26"/>
          <p:cNvSpPr/>
          <p:nvPr/>
        </p:nvSpPr>
        <p:spPr>
          <a:xfrm>
            <a:off x="6428232" y="4338828"/>
            <a:ext cx="64922" cy="64922"/>
          </a:xfrm>
          <a:prstGeom prst="roundRect">
            <a:avLst>
              <a:gd name="adj" fmla="val 98592"/>
            </a:avLst>
          </a:prstGeom>
          <a:solidFill>
            <a:srgbClr val="A84A48"/>
          </a:solidFill>
          <a:ln w="12700">
            <a:solidFill>
              <a:srgbClr val="A84A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0256" y="4215384"/>
            <a:ext cx="451713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Satisfy agreed pilot QA and batch acceptance conditions</a:t>
            </a:r>
            <a:endParaRPr lang="en-US" sz="1320" dirty="0"/>
          </a:p>
        </p:txBody>
      </p:sp>
      <p:sp>
        <p:nvSpPr>
          <p:cNvPr id="30" name="Shape 28"/>
          <p:cNvSpPr/>
          <p:nvPr/>
        </p:nvSpPr>
        <p:spPr>
          <a:xfrm>
            <a:off x="676656" y="5641848"/>
            <a:ext cx="10835640" cy="393192"/>
          </a:xfrm>
          <a:prstGeom prst="roundRect">
            <a:avLst>
              <a:gd name="adj" fmla="val 16279"/>
            </a:avLst>
          </a:prstGeom>
          <a:solidFill>
            <a:srgbClr val="122B40"/>
          </a:solidFill>
          <a:ln w="12700">
            <a:solidFill>
              <a:srgbClr val="122B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5715000"/>
            <a:ext cx="10369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 clarification needed: cap contractor reviews and assign Oman LNG final engineering sign-off / exception decisions.</a:t>
            </a:r>
            <a:endParaRPr lang="en-US" sz="13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283464"/>
            <a:ext cx="10561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65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OMAN LNG | AI-FIRST INFORMATION FACTORY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12648" y="676656"/>
            <a:ext cx="10972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2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Pilot-gated delivery makes the risk priceable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612648" y="1481328"/>
            <a:ext cx="10972800" cy="0"/>
          </a:xfrm>
          <a:prstGeom prst="line">
            <a:avLst/>
          </a:prstGeom>
          <a:noFill/>
          <a:ln w="12700">
            <a:solidFill>
              <a:srgbClr val="DD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BID STRATEGY  |  COMMERCIAL ASSUMPTIONS TO BE CONFIRMED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091672" y="6483096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94944" y="1801368"/>
            <a:ext cx="10799064" cy="667512"/>
          </a:xfrm>
          <a:prstGeom prst="roundRect">
            <a:avLst>
              <a:gd name="adj" fmla="val 9589"/>
            </a:avLst>
          </a:prstGeom>
          <a:solidFill>
            <a:srgbClr val="F5F8F9"/>
          </a:solidFill>
          <a:ln w="12700">
            <a:solidFill>
              <a:srgbClr val="F5F8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1801368"/>
            <a:ext cx="50292" cy="667512"/>
          </a:xfrm>
          <a:prstGeom prst="rect">
            <a:avLst/>
          </a:prstGeom>
          <a:solidFill>
            <a:srgbClr val="A84A48"/>
          </a:solidFill>
          <a:ln w="12700">
            <a:solidFill>
              <a:srgbClr val="A84A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96596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A84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/ CLARIFY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3163824" y="1892808"/>
            <a:ext cx="8046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alternative RACI, QA cap, acceptance, source snapshot and permitted AI processing.</a:t>
            </a:r>
            <a:endParaRPr lang="en-US" sz="1360" dirty="0"/>
          </a:p>
        </p:txBody>
      </p:sp>
      <p:sp>
        <p:nvSpPr>
          <p:cNvPr id="12" name="Shape 10"/>
          <p:cNvSpPr/>
          <p:nvPr/>
        </p:nvSpPr>
        <p:spPr>
          <a:xfrm>
            <a:off x="694944" y="2606040"/>
            <a:ext cx="10799064" cy="667512"/>
          </a:xfrm>
          <a:prstGeom prst="roundRect">
            <a:avLst>
              <a:gd name="adj" fmla="val 9589"/>
            </a:avLst>
          </a:prstGeom>
          <a:solidFill>
            <a:srgbClr val="F5F8F9"/>
          </a:solidFill>
          <a:ln w="12700">
            <a:solidFill>
              <a:srgbClr val="F5F8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" y="2606040"/>
            <a:ext cx="50292" cy="667512"/>
          </a:xfrm>
          <a:prstGeom prst="rect">
            <a:avLst/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77063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PILOT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3163824" y="2697480"/>
            <a:ext cx="8046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Stratify by format, age, train and quality; establish gold samples, recall / precision and cost.</a:t>
            </a:r>
            <a:endParaRPr lang="en-US" sz="1360" dirty="0"/>
          </a:p>
        </p:txBody>
      </p:sp>
      <p:sp>
        <p:nvSpPr>
          <p:cNvPr id="16" name="Shape 14"/>
          <p:cNvSpPr/>
          <p:nvPr/>
        </p:nvSpPr>
        <p:spPr>
          <a:xfrm>
            <a:off x="694944" y="3410712"/>
            <a:ext cx="10799064" cy="667512"/>
          </a:xfrm>
          <a:prstGeom prst="roundRect">
            <a:avLst>
              <a:gd name="adj" fmla="val 9589"/>
            </a:avLst>
          </a:prstGeom>
          <a:solidFill>
            <a:srgbClr val="FBF2E5"/>
          </a:solidFill>
          <a:ln w="12700">
            <a:solidFill>
              <a:srgbClr val="FBF2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" y="3410712"/>
            <a:ext cx="50292" cy="667512"/>
          </a:xfrm>
          <a:prstGeom prst="rect">
            <a:avLst/>
          </a:prstGeom>
          <a:solidFill>
            <a:srgbClr val="A87228"/>
          </a:solidFill>
          <a:ln w="12700">
            <a:solidFill>
              <a:srgbClr val="A872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57530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A872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GATE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3163824" y="3502152"/>
            <a:ext cx="8046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page and candidate volumes, QA capacity, output schema and scenario classification.</a:t>
            </a:r>
            <a:endParaRPr lang="en-US" sz="1360" dirty="0"/>
          </a:p>
        </p:txBody>
      </p:sp>
      <p:sp>
        <p:nvSpPr>
          <p:cNvPr id="20" name="Shape 18"/>
          <p:cNvSpPr/>
          <p:nvPr/>
        </p:nvSpPr>
        <p:spPr>
          <a:xfrm>
            <a:off x="694944" y="4215384"/>
            <a:ext cx="10799064" cy="667512"/>
          </a:xfrm>
          <a:prstGeom prst="roundRect">
            <a:avLst>
              <a:gd name="adj" fmla="val 9589"/>
            </a:avLst>
          </a:prstGeom>
          <a:solidFill>
            <a:srgbClr val="F5F8F9"/>
          </a:solidFill>
          <a:ln w="12700">
            <a:solidFill>
              <a:srgbClr val="F5F8F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" y="4215384"/>
            <a:ext cx="50292" cy="667512"/>
          </a:xfrm>
          <a:prstGeom prst="rect">
            <a:avLst/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37997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FACTORY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3163824" y="4306824"/>
            <a:ext cx="8046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controlled batches, monitor auto QA, review priority cases and publish exception registers.</a:t>
            </a:r>
            <a:endParaRPr lang="en-US" sz="1360" dirty="0"/>
          </a:p>
        </p:txBody>
      </p:sp>
      <p:sp>
        <p:nvSpPr>
          <p:cNvPr id="24" name="Shape 22"/>
          <p:cNvSpPr/>
          <p:nvPr/>
        </p:nvSpPr>
        <p:spPr>
          <a:xfrm>
            <a:off x="694944" y="5020056"/>
            <a:ext cx="10799064" cy="667512"/>
          </a:xfrm>
          <a:prstGeom prst="roundRect">
            <a:avLst>
              <a:gd name="adj" fmla="val 9589"/>
            </a:avLst>
          </a:prstGeom>
          <a:solidFill>
            <a:srgbClr val="F5F8F9"/>
          </a:solidFill>
          <a:ln w="12700">
            <a:solidFill>
              <a:srgbClr val="F5F8F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" y="5020056"/>
            <a:ext cx="50292" cy="667512"/>
          </a:xfrm>
          <a:prstGeom prst="rect">
            <a:avLst/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518464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HANDOVER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3163824" y="5111496"/>
            <a:ext cx="8046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load; correct our outputs; transfer records, evidence, QA statistics and open dispositions.</a:t>
            </a:r>
            <a:endParaRPr lang="en-US" sz="1360" dirty="0"/>
          </a:p>
        </p:txBody>
      </p:sp>
      <p:sp>
        <p:nvSpPr>
          <p:cNvPr id="28" name="Shape 26"/>
          <p:cNvSpPr/>
          <p:nvPr/>
        </p:nvSpPr>
        <p:spPr>
          <a:xfrm>
            <a:off x="694944" y="5980176"/>
            <a:ext cx="10799064" cy="228600"/>
          </a:xfrm>
          <a:prstGeom prst="roundRect">
            <a:avLst>
              <a:gd name="adj" fmla="val 28000"/>
            </a:avLst>
          </a:prstGeom>
          <a:solidFill>
            <a:srgbClr val="FBF2E5"/>
          </a:solidFill>
          <a:ln w="12700">
            <a:solidFill>
              <a:srgbClr val="FBF2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5256" y="5989320"/>
            <a:ext cx="10332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b="1" dirty="0">
                <a:solidFill>
                  <a:srgbClr val="A872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full-scale production before customer approval of the pilot quality plan and output model (SOW §16).</a:t>
            </a:r>
            <a:endParaRPr lang="en-US" sz="11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283464"/>
            <a:ext cx="10561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65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MANAGEMENT | INDICATIVE INHERENT ASSESSMENT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12648" y="676656"/>
            <a:ext cx="10972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2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risks (1/2): deal structure and information uncertainty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612648" y="1481328"/>
            <a:ext cx="10972800" cy="0"/>
          </a:xfrm>
          <a:prstGeom prst="line">
            <a:avLst/>
          </a:prstGeom>
          <a:noFill/>
          <a:ln w="12700">
            <a:solidFill>
              <a:srgbClr val="DD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BID STRATEGY  |  COMMERCIAL ASSUMPTIONS TO BE CONFIRMED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091672" y="6483096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1856232"/>
            <a:ext cx="10725912" cy="484632"/>
          </a:xfrm>
          <a:prstGeom prst="rect">
            <a:avLst/>
          </a:prstGeom>
          <a:solidFill>
            <a:srgbClr val="122B40"/>
          </a:solidFill>
          <a:ln w="12700">
            <a:solidFill>
              <a:srgbClr val="122B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984248"/>
            <a:ext cx="2596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/ CONSEQUENCE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3566160" y="1984248"/>
            <a:ext cx="539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LIK.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4315968" y="1984248"/>
            <a:ext cx="512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IMP.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5038344" y="1984248"/>
            <a:ext cx="3099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PREVENT / MITIGATE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348472" y="1984248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IF REALISED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40080" y="2441448"/>
            <a:ext cx="10725912" cy="786384"/>
          </a:xfrm>
          <a:prstGeom prst="roundRect">
            <a:avLst>
              <a:gd name="adj" fmla="val 8140"/>
            </a:avLst>
          </a:prstGeom>
          <a:solidFill>
            <a:srgbClr val="F5F8F9"/>
          </a:solidFill>
          <a:ln w="12700">
            <a:solidFill>
              <a:srgbClr val="F5F8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2523744"/>
            <a:ext cx="25968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b="1" dirty="0">
                <a:solidFill>
                  <a:srgbClr val="A84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R01  Scope deviation rejected; $800k bid non-compliant</a:t>
            </a:r>
            <a:endParaRPr lang="en-US" sz="1090" dirty="0"/>
          </a:p>
        </p:txBody>
      </p:sp>
      <p:sp>
        <p:nvSpPr>
          <p:cNvPr id="16" name="Text 14"/>
          <p:cNvSpPr/>
          <p:nvPr/>
        </p:nvSpPr>
        <p:spPr>
          <a:xfrm>
            <a:off x="3566160" y="2523744"/>
            <a:ext cx="5394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1090" dirty="0"/>
          </a:p>
        </p:txBody>
      </p:sp>
      <p:sp>
        <p:nvSpPr>
          <p:cNvPr id="17" name="Text 15"/>
          <p:cNvSpPr/>
          <p:nvPr/>
        </p:nvSpPr>
        <p:spPr>
          <a:xfrm>
            <a:off x="4315968" y="2523744"/>
            <a:ext cx="51206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</a:t>
            </a:r>
            <a:endParaRPr lang="en-US" sz="1090" dirty="0"/>
          </a:p>
        </p:txBody>
      </p:sp>
      <p:sp>
        <p:nvSpPr>
          <p:cNvPr id="18" name="Text 16"/>
          <p:cNvSpPr/>
          <p:nvPr/>
        </p:nvSpPr>
        <p:spPr>
          <a:xfrm>
            <a:off x="5038344" y="2523744"/>
            <a:ext cx="309981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Obtain written alternative-bid and QA/RACI approval</a:t>
            </a:r>
            <a:endParaRPr lang="en-US" sz="1090" dirty="0"/>
          </a:p>
        </p:txBody>
      </p:sp>
      <p:sp>
        <p:nvSpPr>
          <p:cNvPr id="19" name="Text 17"/>
          <p:cNvSpPr/>
          <p:nvPr/>
        </p:nvSpPr>
        <p:spPr>
          <a:xfrm>
            <a:off x="8348472" y="2523744"/>
            <a:ext cx="29260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Rebid full scope, price a separate option, or no-bid.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640080" y="3255264"/>
            <a:ext cx="10725912" cy="0"/>
          </a:xfrm>
          <a:prstGeom prst="line">
            <a:avLst/>
          </a:prstGeom>
          <a:noFill/>
          <a:ln w="12700">
            <a:solidFill>
              <a:srgbClr val="DDE6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310128"/>
            <a:ext cx="10725912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3392424"/>
            <a:ext cx="25968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b="1" dirty="0">
                <a:solidFill>
                  <a:srgbClr val="122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R02  Low source quality overwhelms OCR and review capacity</a:t>
            </a:r>
            <a:endParaRPr lang="en-US" sz="1090" dirty="0"/>
          </a:p>
        </p:txBody>
      </p:sp>
      <p:sp>
        <p:nvSpPr>
          <p:cNvPr id="23" name="Text 21"/>
          <p:cNvSpPr/>
          <p:nvPr/>
        </p:nvSpPr>
        <p:spPr>
          <a:xfrm>
            <a:off x="3566160" y="3392424"/>
            <a:ext cx="5394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1090" dirty="0"/>
          </a:p>
        </p:txBody>
      </p:sp>
      <p:sp>
        <p:nvSpPr>
          <p:cNvPr id="24" name="Text 22"/>
          <p:cNvSpPr/>
          <p:nvPr/>
        </p:nvSpPr>
        <p:spPr>
          <a:xfrm>
            <a:off x="4315968" y="3392424"/>
            <a:ext cx="51206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</a:t>
            </a:r>
            <a:endParaRPr lang="en-US" sz="1090" dirty="0"/>
          </a:p>
        </p:txBody>
      </p:sp>
      <p:sp>
        <p:nvSpPr>
          <p:cNvPr id="25" name="Text 23"/>
          <p:cNvSpPr/>
          <p:nvPr/>
        </p:nvSpPr>
        <p:spPr>
          <a:xfrm>
            <a:off x="5038344" y="3392424"/>
            <a:ext cx="309981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quality strata incl. historical scans and CAD</a:t>
            </a:r>
            <a:endParaRPr lang="en-US" sz="1090" dirty="0"/>
          </a:p>
        </p:txBody>
      </p:sp>
      <p:sp>
        <p:nvSpPr>
          <p:cNvPr id="26" name="Text 24"/>
          <p:cNvSpPr/>
          <p:nvPr/>
        </p:nvSpPr>
        <p:spPr>
          <a:xfrm>
            <a:off x="8348472" y="3392424"/>
            <a:ext cx="29260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Quarantine failures; rebaseline scope / approved variation.</a:t>
            </a:r>
            <a:endParaRPr lang="en-US" sz="1090" dirty="0"/>
          </a:p>
        </p:txBody>
      </p:sp>
      <p:sp>
        <p:nvSpPr>
          <p:cNvPr id="27" name="Shape 25"/>
          <p:cNvSpPr/>
          <p:nvPr/>
        </p:nvSpPr>
        <p:spPr>
          <a:xfrm>
            <a:off x="640080" y="4123944"/>
            <a:ext cx="10725912" cy="0"/>
          </a:xfrm>
          <a:prstGeom prst="line">
            <a:avLst/>
          </a:prstGeom>
          <a:noFill/>
          <a:ln w="12700">
            <a:solidFill>
              <a:srgbClr val="DDE6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178808"/>
            <a:ext cx="10725912" cy="786384"/>
          </a:xfrm>
          <a:prstGeom prst="roundRect">
            <a:avLst>
              <a:gd name="adj" fmla="val 8140"/>
            </a:avLst>
          </a:prstGeom>
          <a:solidFill>
            <a:srgbClr val="F5F8F9"/>
          </a:solidFill>
          <a:ln w="12700">
            <a:solidFill>
              <a:srgbClr val="F5F8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4261104"/>
            <a:ext cx="25968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b="1" dirty="0">
                <a:solidFill>
                  <a:srgbClr val="122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R03  Pages or links exceed the priced population</a:t>
            </a:r>
            <a:endParaRPr lang="en-US" sz="1090" dirty="0"/>
          </a:p>
        </p:txBody>
      </p:sp>
      <p:sp>
        <p:nvSpPr>
          <p:cNvPr id="30" name="Text 28"/>
          <p:cNvSpPr/>
          <p:nvPr/>
        </p:nvSpPr>
        <p:spPr>
          <a:xfrm>
            <a:off x="3566160" y="4261104"/>
            <a:ext cx="5394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1090" dirty="0"/>
          </a:p>
        </p:txBody>
      </p:sp>
      <p:sp>
        <p:nvSpPr>
          <p:cNvPr id="31" name="Text 29"/>
          <p:cNvSpPr/>
          <p:nvPr/>
        </p:nvSpPr>
        <p:spPr>
          <a:xfrm>
            <a:off x="4315968" y="4261104"/>
            <a:ext cx="51206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090" dirty="0"/>
          </a:p>
        </p:txBody>
      </p:sp>
      <p:sp>
        <p:nvSpPr>
          <p:cNvPr id="32" name="Text 30"/>
          <p:cNvSpPr/>
          <p:nvPr/>
        </p:nvSpPr>
        <p:spPr>
          <a:xfrm>
            <a:off x="5038344" y="4261104"/>
            <a:ext cx="309981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page, sheet, composite and relation counts</a:t>
            </a:r>
            <a:endParaRPr lang="en-US" sz="1090" dirty="0"/>
          </a:p>
        </p:txBody>
      </p:sp>
      <p:sp>
        <p:nvSpPr>
          <p:cNvPr id="33" name="Text 31"/>
          <p:cNvSpPr/>
          <p:nvPr/>
        </p:nvSpPr>
        <p:spPr>
          <a:xfrm>
            <a:off x="8348472" y="4261104"/>
            <a:ext cx="29260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Tiered overage fees; batch change-control / schedule extension.</a:t>
            </a:r>
            <a:endParaRPr lang="en-US" sz="1090" dirty="0"/>
          </a:p>
        </p:txBody>
      </p:sp>
      <p:sp>
        <p:nvSpPr>
          <p:cNvPr id="34" name="Shape 32"/>
          <p:cNvSpPr/>
          <p:nvPr/>
        </p:nvSpPr>
        <p:spPr>
          <a:xfrm>
            <a:off x="640080" y="4992624"/>
            <a:ext cx="10725912" cy="0"/>
          </a:xfrm>
          <a:prstGeom prst="line">
            <a:avLst/>
          </a:prstGeom>
          <a:noFill/>
          <a:ln w="12700">
            <a:solidFill>
              <a:srgbClr val="DDE6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5047488"/>
            <a:ext cx="10725912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29784"/>
            <a:ext cx="25968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b="1" dirty="0">
                <a:solidFill>
                  <a:srgbClr val="122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R04  Incorrect train or unit links create unsafe relationships</a:t>
            </a:r>
            <a:endParaRPr lang="en-US" sz="1090" dirty="0"/>
          </a:p>
        </p:txBody>
      </p:sp>
      <p:sp>
        <p:nvSpPr>
          <p:cNvPr id="37" name="Text 35"/>
          <p:cNvSpPr/>
          <p:nvPr/>
        </p:nvSpPr>
        <p:spPr>
          <a:xfrm>
            <a:off x="3566160" y="5129784"/>
            <a:ext cx="5394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1090" dirty="0"/>
          </a:p>
        </p:txBody>
      </p:sp>
      <p:sp>
        <p:nvSpPr>
          <p:cNvPr id="38" name="Text 36"/>
          <p:cNvSpPr/>
          <p:nvPr/>
        </p:nvSpPr>
        <p:spPr>
          <a:xfrm>
            <a:off x="4315968" y="5129784"/>
            <a:ext cx="51206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090" dirty="0"/>
          </a:p>
        </p:txBody>
      </p:sp>
      <p:sp>
        <p:nvSpPr>
          <p:cNvPr id="39" name="Text 37"/>
          <p:cNvSpPr/>
          <p:nvPr/>
        </p:nvSpPr>
        <p:spPr>
          <a:xfrm>
            <a:off x="5038344" y="5129784"/>
            <a:ext cx="309981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tagging philosophy, checks and blind QA samples</a:t>
            </a:r>
            <a:endParaRPr lang="en-US" sz="1090" dirty="0"/>
          </a:p>
        </p:txBody>
      </p:sp>
      <p:sp>
        <p:nvSpPr>
          <p:cNvPr id="40" name="Text 38"/>
          <p:cNvSpPr/>
          <p:nvPr/>
        </p:nvSpPr>
        <p:spPr>
          <a:xfrm>
            <a:off x="8348472" y="5129784"/>
            <a:ext cx="29260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affected batches; tune rules; rerun + re-QA.</a:t>
            </a:r>
            <a:endParaRPr lang="en-US" sz="1090" dirty="0"/>
          </a:p>
        </p:txBody>
      </p:sp>
      <p:sp>
        <p:nvSpPr>
          <p:cNvPr id="41" name="Shape 39"/>
          <p:cNvSpPr/>
          <p:nvPr/>
        </p:nvSpPr>
        <p:spPr>
          <a:xfrm>
            <a:off x="640080" y="5861304"/>
            <a:ext cx="10725912" cy="0"/>
          </a:xfrm>
          <a:prstGeom prst="line">
            <a:avLst/>
          </a:prstGeom>
          <a:noFill/>
          <a:ln w="12700">
            <a:solidFill>
              <a:srgbClr val="DDE6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" y="607161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 = Low; M = Medium; H = High.  Ratings are qualitative starting assumptions, not quantified probabilities.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283464"/>
            <a:ext cx="10561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65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MANAGEMENT | INDICATIVE INHERENT ASSESSMENT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12648" y="676656"/>
            <a:ext cx="10972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2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risks (2/2): quality proof, cyber, customer decisions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612648" y="1481328"/>
            <a:ext cx="10972800" cy="0"/>
          </a:xfrm>
          <a:prstGeom prst="line">
            <a:avLst/>
          </a:prstGeom>
          <a:noFill/>
          <a:ln w="12700">
            <a:solidFill>
              <a:srgbClr val="DD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BID STRATEGY  |  COMMERCIAL ASSUMPTIONS TO BE CONFIRMED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091672" y="6483096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1856232"/>
            <a:ext cx="10725912" cy="484632"/>
          </a:xfrm>
          <a:prstGeom prst="rect">
            <a:avLst/>
          </a:prstGeom>
          <a:solidFill>
            <a:srgbClr val="122B40"/>
          </a:solidFill>
          <a:ln w="12700">
            <a:solidFill>
              <a:srgbClr val="122B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984248"/>
            <a:ext cx="2596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/ CONSEQUENCE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3566160" y="1984248"/>
            <a:ext cx="539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LIK.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4315968" y="1984248"/>
            <a:ext cx="512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IMP.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5038344" y="1984248"/>
            <a:ext cx="3099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PREVENT / MITIGATE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348472" y="1984248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IF REALISED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40080" y="2441448"/>
            <a:ext cx="10725912" cy="786384"/>
          </a:xfrm>
          <a:prstGeom prst="roundRect">
            <a:avLst>
              <a:gd name="adj" fmla="val 8140"/>
            </a:avLst>
          </a:prstGeom>
          <a:solidFill>
            <a:srgbClr val="F5F8F9"/>
          </a:solidFill>
          <a:ln w="12700">
            <a:solidFill>
              <a:srgbClr val="F5F8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2523744"/>
            <a:ext cx="25968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b="1" dirty="0">
                <a:solidFill>
                  <a:srgbClr val="122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R05  False negatives missed by candidate-only QA</a:t>
            </a:r>
            <a:endParaRPr lang="en-US" sz="1090" dirty="0"/>
          </a:p>
        </p:txBody>
      </p:sp>
      <p:sp>
        <p:nvSpPr>
          <p:cNvPr id="16" name="Text 14"/>
          <p:cNvSpPr/>
          <p:nvPr/>
        </p:nvSpPr>
        <p:spPr>
          <a:xfrm>
            <a:off x="3566160" y="2523744"/>
            <a:ext cx="5394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1090" dirty="0"/>
          </a:p>
        </p:txBody>
      </p:sp>
      <p:sp>
        <p:nvSpPr>
          <p:cNvPr id="17" name="Text 15"/>
          <p:cNvSpPr/>
          <p:nvPr/>
        </p:nvSpPr>
        <p:spPr>
          <a:xfrm>
            <a:off x="4315968" y="2523744"/>
            <a:ext cx="51206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090" dirty="0"/>
          </a:p>
        </p:txBody>
      </p:sp>
      <p:sp>
        <p:nvSpPr>
          <p:cNvPr id="18" name="Text 16"/>
          <p:cNvSpPr/>
          <p:nvPr/>
        </p:nvSpPr>
        <p:spPr>
          <a:xfrm>
            <a:off x="5038344" y="2523744"/>
            <a:ext cx="309981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document-level gold samples for recall</a:t>
            </a:r>
            <a:endParaRPr lang="en-US" sz="1090" dirty="0"/>
          </a:p>
        </p:txBody>
      </p:sp>
      <p:sp>
        <p:nvSpPr>
          <p:cNvPr id="19" name="Text 17"/>
          <p:cNvSpPr/>
          <p:nvPr/>
        </p:nvSpPr>
        <p:spPr>
          <a:xfrm>
            <a:off x="8348472" y="2523744"/>
            <a:ext cx="29260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 readers; targeted rerun and root-cause report.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640080" y="3255264"/>
            <a:ext cx="10725912" cy="0"/>
          </a:xfrm>
          <a:prstGeom prst="line">
            <a:avLst/>
          </a:prstGeom>
          <a:noFill/>
          <a:ln w="12700">
            <a:solidFill>
              <a:srgbClr val="DDE6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310128"/>
            <a:ext cx="10725912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3392424"/>
            <a:ext cx="25968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b="1" dirty="0">
                <a:solidFill>
                  <a:srgbClr val="A84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R06  AI / data residency or subcontractor approval fails</a:t>
            </a:r>
            <a:endParaRPr lang="en-US" sz="1090" dirty="0"/>
          </a:p>
        </p:txBody>
      </p:sp>
      <p:sp>
        <p:nvSpPr>
          <p:cNvPr id="23" name="Text 21"/>
          <p:cNvSpPr/>
          <p:nvPr/>
        </p:nvSpPr>
        <p:spPr>
          <a:xfrm>
            <a:off x="3566160" y="3392424"/>
            <a:ext cx="5394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1090" dirty="0"/>
          </a:p>
        </p:txBody>
      </p:sp>
      <p:sp>
        <p:nvSpPr>
          <p:cNvPr id="24" name="Text 22"/>
          <p:cNvSpPr/>
          <p:nvPr/>
        </p:nvSpPr>
        <p:spPr>
          <a:xfrm>
            <a:off x="4315968" y="3392424"/>
            <a:ext cx="51206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</a:t>
            </a:r>
            <a:endParaRPr lang="en-US" sz="1090" dirty="0"/>
          </a:p>
        </p:txBody>
      </p:sp>
      <p:sp>
        <p:nvSpPr>
          <p:cNvPr id="25" name="Text 23"/>
          <p:cNvSpPr/>
          <p:nvPr/>
        </p:nvSpPr>
        <p:spPr>
          <a:xfrm>
            <a:off x="5038344" y="3392424"/>
            <a:ext cx="309981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environment, location, terms before transfer</a:t>
            </a:r>
            <a:endParaRPr lang="en-US" sz="1090" dirty="0"/>
          </a:p>
        </p:txBody>
      </p:sp>
      <p:sp>
        <p:nvSpPr>
          <p:cNvPr id="26" name="Text 24"/>
          <p:cNvSpPr/>
          <p:nvPr/>
        </p:nvSpPr>
        <p:spPr>
          <a:xfrm>
            <a:off x="8348472" y="3392424"/>
            <a:ext cx="29260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processing; containment and approved architecture switch.</a:t>
            </a:r>
            <a:endParaRPr lang="en-US" sz="1090" dirty="0"/>
          </a:p>
        </p:txBody>
      </p:sp>
      <p:sp>
        <p:nvSpPr>
          <p:cNvPr id="27" name="Shape 25"/>
          <p:cNvSpPr/>
          <p:nvPr/>
        </p:nvSpPr>
        <p:spPr>
          <a:xfrm>
            <a:off x="640080" y="4123944"/>
            <a:ext cx="10725912" cy="0"/>
          </a:xfrm>
          <a:prstGeom prst="line">
            <a:avLst/>
          </a:prstGeom>
          <a:noFill/>
          <a:ln w="12700">
            <a:solidFill>
              <a:srgbClr val="DDE6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178808"/>
            <a:ext cx="10725912" cy="786384"/>
          </a:xfrm>
          <a:prstGeom prst="roundRect">
            <a:avLst>
              <a:gd name="adj" fmla="val 8140"/>
            </a:avLst>
          </a:prstGeom>
          <a:solidFill>
            <a:srgbClr val="F5F8F9"/>
          </a:solidFill>
          <a:ln w="12700">
            <a:solidFill>
              <a:srgbClr val="F5F8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4261104"/>
            <a:ext cx="25968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b="1" dirty="0">
                <a:solidFill>
                  <a:srgbClr val="122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R07  Customer sign-off and exception decisions stall</a:t>
            </a:r>
            <a:endParaRPr lang="en-US" sz="1090" dirty="0"/>
          </a:p>
        </p:txBody>
      </p:sp>
      <p:sp>
        <p:nvSpPr>
          <p:cNvPr id="30" name="Text 28"/>
          <p:cNvSpPr/>
          <p:nvPr/>
        </p:nvSpPr>
        <p:spPr>
          <a:xfrm>
            <a:off x="3566160" y="4261104"/>
            <a:ext cx="5394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1090" dirty="0"/>
          </a:p>
        </p:txBody>
      </p:sp>
      <p:sp>
        <p:nvSpPr>
          <p:cNvPr id="31" name="Text 29"/>
          <p:cNvSpPr/>
          <p:nvPr/>
        </p:nvSpPr>
        <p:spPr>
          <a:xfrm>
            <a:off x="4315968" y="4261104"/>
            <a:ext cx="51206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090" dirty="0"/>
          </a:p>
        </p:txBody>
      </p:sp>
      <p:sp>
        <p:nvSpPr>
          <p:cNvPr id="32" name="Text 30"/>
          <p:cNvSpPr/>
          <p:nvPr/>
        </p:nvSpPr>
        <p:spPr>
          <a:xfrm>
            <a:off x="5038344" y="4261104"/>
            <a:ext cx="309981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 owner, decision SLA and bulk disposition policy</a:t>
            </a:r>
            <a:endParaRPr lang="en-US" sz="1090" dirty="0"/>
          </a:p>
        </p:txBody>
      </p:sp>
      <p:sp>
        <p:nvSpPr>
          <p:cNvPr id="33" name="Text 31"/>
          <p:cNvSpPr/>
          <p:nvPr/>
        </p:nvSpPr>
        <p:spPr>
          <a:xfrm>
            <a:off x="8348472" y="4261104"/>
            <a:ext cx="29260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Escalate queue, adjust gates and schedule through change-control.</a:t>
            </a:r>
            <a:endParaRPr lang="en-US" sz="1090" dirty="0"/>
          </a:p>
        </p:txBody>
      </p:sp>
      <p:sp>
        <p:nvSpPr>
          <p:cNvPr id="34" name="Shape 32"/>
          <p:cNvSpPr/>
          <p:nvPr/>
        </p:nvSpPr>
        <p:spPr>
          <a:xfrm>
            <a:off x="640080" y="4992624"/>
            <a:ext cx="10725912" cy="0"/>
          </a:xfrm>
          <a:prstGeom prst="line">
            <a:avLst/>
          </a:prstGeom>
          <a:noFill/>
          <a:ln w="12700">
            <a:solidFill>
              <a:srgbClr val="DDE6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5047488"/>
            <a:ext cx="10725912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29784"/>
            <a:ext cx="25968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b="1" dirty="0">
                <a:solidFill>
                  <a:srgbClr val="122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R08  AIM load-ready outputs rejected due to our defect</a:t>
            </a:r>
            <a:endParaRPr lang="en-US" sz="1090" dirty="0"/>
          </a:p>
        </p:txBody>
      </p:sp>
      <p:sp>
        <p:nvSpPr>
          <p:cNvPr id="37" name="Text 35"/>
          <p:cNvSpPr/>
          <p:nvPr/>
        </p:nvSpPr>
        <p:spPr>
          <a:xfrm>
            <a:off x="3566160" y="5129784"/>
            <a:ext cx="5394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1090" dirty="0"/>
          </a:p>
        </p:txBody>
      </p:sp>
      <p:sp>
        <p:nvSpPr>
          <p:cNvPr id="38" name="Text 36"/>
          <p:cNvSpPr/>
          <p:nvPr/>
        </p:nvSpPr>
        <p:spPr>
          <a:xfrm>
            <a:off x="4315968" y="5129784"/>
            <a:ext cx="51206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090" dirty="0"/>
          </a:p>
        </p:txBody>
      </p:sp>
      <p:sp>
        <p:nvSpPr>
          <p:cNvPr id="39" name="Text 37"/>
          <p:cNvSpPr/>
          <p:nvPr/>
        </p:nvSpPr>
        <p:spPr>
          <a:xfrm>
            <a:off x="5038344" y="5129784"/>
            <a:ext cx="309981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target mapping, automated schema tests, trial load</a:t>
            </a:r>
            <a:endParaRPr lang="en-US" sz="1090" dirty="0"/>
          </a:p>
        </p:txBody>
      </p:sp>
      <p:sp>
        <p:nvSpPr>
          <p:cNvPr id="40" name="Text 38"/>
          <p:cNvSpPr/>
          <p:nvPr/>
        </p:nvSpPr>
        <p:spPr>
          <a:xfrm>
            <a:off x="8348472" y="5129784"/>
            <a:ext cx="29260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deliverables and resubmit within agreed scope.</a:t>
            </a:r>
            <a:endParaRPr lang="en-US" sz="1090" dirty="0"/>
          </a:p>
        </p:txBody>
      </p:sp>
      <p:sp>
        <p:nvSpPr>
          <p:cNvPr id="41" name="Shape 39"/>
          <p:cNvSpPr/>
          <p:nvPr/>
        </p:nvSpPr>
        <p:spPr>
          <a:xfrm>
            <a:off x="640080" y="5861304"/>
            <a:ext cx="10725912" cy="0"/>
          </a:xfrm>
          <a:prstGeom prst="line">
            <a:avLst/>
          </a:prstGeom>
          <a:noFill/>
          <a:ln w="12700">
            <a:solidFill>
              <a:srgbClr val="DDE6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" y="607161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16-risk register in Word: likelihood, impact, triggers, owners, preventive controls and corrective responses.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283464"/>
            <a:ext cx="10561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65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DECISION | PROPOSED NEXT STEPS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12648" y="676656"/>
            <a:ext cx="10972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22B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Decisions for the bid leadership team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612648" y="1481328"/>
            <a:ext cx="10972800" cy="0"/>
          </a:xfrm>
          <a:prstGeom prst="line">
            <a:avLst/>
          </a:prstGeom>
          <a:noFill/>
          <a:ln w="12700">
            <a:solidFill>
              <a:srgbClr val="DD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528816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BID STRATEGY  |  COMMERCIAL ASSUMPTIONS TO BE CONFIRMED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091672" y="6483096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36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67512" y="1828800"/>
            <a:ext cx="10844784" cy="3282696"/>
          </a:xfrm>
          <a:prstGeom prst="roundRect">
            <a:avLst>
              <a:gd name="adj" fmla="val 1950"/>
            </a:avLst>
          </a:prstGeom>
          <a:solidFill>
            <a:srgbClr val="F5F8F9"/>
          </a:solidFill>
          <a:ln w="12700">
            <a:solidFill>
              <a:srgbClr val="F5F8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" y="1828800"/>
            <a:ext cx="50292" cy="3282696"/>
          </a:xfrm>
          <a:prstGeom prst="rect">
            <a:avLst/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204825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20" b="1" dirty="0">
                <a:solidFill>
                  <a:srgbClr val="09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the $800k option only if we can secure:</a:t>
            </a:r>
            <a:endParaRPr lang="en-US" sz="2020" dirty="0"/>
          </a:p>
        </p:txBody>
      </p:sp>
      <p:sp>
        <p:nvSpPr>
          <p:cNvPr id="11" name="Shape 9"/>
          <p:cNvSpPr/>
          <p:nvPr/>
        </p:nvSpPr>
        <p:spPr>
          <a:xfrm>
            <a:off x="914400" y="2729484"/>
            <a:ext cx="64922" cy="64922"/>
          </a:xfrm>
          <a:prstGeom prst="roundRect">
            <a:avLst>
              <a:gd name="adj" fmla="val 98592"/>
            </a:avLst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6424" y="2606040"/>
            <a:ext cx="9893808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1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explicit customer-approved split of engineering verification and exception disposition</a:t>
            </a:r>
            <a:endParaRPr lang="en-US" sz="1510" dirty="0"/>
          </a:p>
        </p:txBody>
      </p:sp>
      <p:sp>
        <p:nvSpPr>
          <p:cNvPr id="13" name="Shape 11"/>
          <p:cNvSpPr/>
          <p:nvPr/>
        </p:nvSpPr>
        <p:spPr>
          <a:xfrm>
            <a:off x="914400" y="3150108"/>
            <a:ext cx="64922" cy="64922"/>
          </a:xfrm>
          <a:prstGeom prst="roundRect">
            <a:avLst>
              <a:gd name="adj" fmla="val 98592"/>
            </a:avLst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6424" y="3026664"/>
            <a:ext cx="9893808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1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controlled dataset baseline, capped reviewer hours and change/overage mechanism</a:t>
            </a:r>
            <a:endParaRPr lang="en-US" sz="1510" dirty="0"/>
          </a:p>
        </p:txBody>
      </p:sp>
      <p:sp>
        <p:nvSpPr>
          <p:cNvPr id="15" name="Shape 13"/>
          <p:cNvSpPr/>
          <p:nvPr/>
        </p:nvSpPr>
        <p:spPr>
          <a:xfrm>
            <a:off x="914400" y="3570732"/>
            <a:ext cx="64922" cy="64922"/>
          </a:xfrm>
          <a:prstGeom prst="roundRect">
            <a:avLst>
              <a:gd name="adj" fmla="val 98592"/>
            </a:avLst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6424" y="3447288"/>
            <a:ext cx="9893808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1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stratified pilot establishing precision, recall, review-time and cost assumptions</a:t>
            </a:r>
            <a:endParaRPr lang="en-US" sz="1510" dirty="0"/>
          </a:p>
        </p:txBody>
      </p:sp>
      <p:sp>
        <p:nvSpPr>
          <p:cNvPr id="17" name="Shape 15"/>
          <p:cNvSpPr/>
          <p:nvPr/>
        </p:nvSpPr>
        <p:spPr>
          <a:xfrm>
            <a:off x="914400" y="3991356"/>
            <a:ext cx="64922" cy="64922"/>
          </a:xfrm>
          <a:prstGeom prst="roundRect">
            <a:avLst>
              <a:gd name="adj" fmla="val 98592"/>
            </a:avLst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06424" y="3867912"/>
            <a:ext cx="9893808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1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permitted secure AI environment and a gold-standard sample</a:t>
            </a:r>
            <a:endParaRPr lang="en-US" sz="1510" dirty="0"/>
          </a:p>
        </p:txBody>
      </p:sp>
      <p:sp>
        <p:nvSpPr>
          <p:cNvPr id="19" name="Shape 17"/>
          <p:cNvSpPr/>
          <p:nvPr/>
        </p:nvSpPr>
        <p:spPr>
          <a:xfrm>
            <a:off x="914400" y="4411980"/>
            <a:ext cx="64922" cy="64922"/>
          </a:xfrm>
          <a:prstGeom prst="roundRect">
            <a:avLst>
              <a:gd name="adj" fmla="val 98592"/>
            </a:avLst>
          </a:prstGeom>
          <a:solidFill>
            <a:srgbClr val="097C79"/>
          </a:solidFill>
          <a:ln w="12700">
            <a:solidFill>
              <a:srgbClr val="097C7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06424" y="4288536"/>
            <a:ext cx="9893808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10" dirty="0">
                <a:solidFill>
                  <a:srgbClr val="2034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gates based on evidenced, usable outputs — plus correction of our own defects</a:t>
            </a:r>
            <a:endParaRPr lang="en-US" sz="1510" dirty="0"/>
          </a:p>
        </p:txBody>
      </p:sp>
      <p:sp>
        <p:nvSpPr>
          <p:cNvPr id="21" name="Shape 19"/>
          <p:cNvSpPr/>
          <p:nvPr/>
        </p:nvSpPr>
        <p:spPr>
          <a:xfrm>
            <a:off x="685800" y="5394960"/>
            <a:ext cx="10799064" cy="658368"/>
          </a:xfrm>
          <a:prstGeom prst="roundRect">
            <a:avLst>
              <a:gd name="adj" fmla="val 9722"/>
            </a:avLst>
          </a:prstGeom>
          <a:solidFill>
            <a:srgbClr val="122B40"/>
          </a:solidFill>
          <a:ln w="12700">
            <a:solidFill>
              <a:srgbClr val="122B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541264"/>
            <a:ext cx="10305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 if these conditions are accepted.  REPRICE or offer full-SOW alternative if Oman LNG requires comprehensive engineering validation.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0cb1e24-a0e2-4a4c-9340-733297c9cd7c}" enabled="1" method="Privileged" siteId="{db1e96a8-a3da-442a-930b-235cac24cd5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2869</Words>
  <Application>Microsoft Macintosh PowerPoint</Application>
  <PresentationFormat>Widescreen</PresentationFormat>
  <Paragraphs>319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Internal discussion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Oman LNG | AI-first Information Factory + QA/QC | v2</dc:title>
  <dc:subject>Oman LNG AI-first $800k offer and risk management</dc:subject>
  <dc:creator>Internal bid strategy</dc:creator>
  <cp:lastModifiedBy>Allodi, Alessandro SDSI-ITD/S/O</cp:lastModifiedBy>
  <cp:revision>1</cp:revision>
  <dcterms:created xsi:type="dcterms:W3CDTF">2026-10-15T16:06:34Z</dcterms:created>
  <dcterms:modified xsi:type="dcterms:W3CDTF">2026-10-16T09:40:18Z</dcterms:modified>
</cp:coreProperties>
</file>